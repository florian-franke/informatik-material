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408" r:id="rId2"/>
    <p:sldId id="404" r:id="rId3"/>
    <p:sldId id="409" r:id="rId4"/>
    <p:sldId id="405" r:id="rId5"/>
    <p:sldId id="410" r:id="rId6"/>
    <p:sldId id="411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125" autoAdjust="0"/>
  </p:normalViewPr>
  <p:slideViewPr>
    <p:cSldViewPr snapToGrid="0">
      <p:cViewPr varScale="1">
        <p:scale>
          <a:sx n="70" d="100"/>
          <a:sy n="70" d="100"/>
        </p:scale>
        <p:origin x="536" y="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14FC7C-4090-4DE3-B7A6-823389B1DB10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C4371-8A94-497C-981A-5985C1B3E1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3439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9D955-DF9D-41CC-8346-A66ABF961EC2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967101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13D6CF-C951-4233-8C05-FC2B7D27C8E5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49119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96D5AE-7254-4A0E-BF27-8ACCF86131F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340038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2D9C1-8307-48E2-95E3-5C299A4B6B8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190669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A21E99-019C-4610-8E89-15627F058E74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97140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CD810-417C-4FC0-911C-8A532555A5F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36778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F58B3-F613-4188-ABD5-75C2EFD6034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02602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7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7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F907C-0B38-4B04-B99A-47828357F1E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750839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CB12EC-29C9-4953-96D2-AC1247C0411B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97380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2B2177-6598-49A4-A093-FCDB8A1488ED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79142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F8BC58-F9EE-4EF4-8BA7-73D1623D7F6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783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99FF"/>
            </a:gs>
            <a:gs pos="100000">
              <a:srgbClr val="C9E9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die Formate des Vorlagentextes zu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9CF637A9-2672-485D-BB5A-0633926A8C3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69606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Char char="•"/>
        <a:defRPr sz="4267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Char char="–"/>
        <a:defRPr sz="3733">
          <a:solidFill>
            <a:schemeClr val="tx1"/>
          </a:solidFill>
          <a:latin typeface="+mn-lt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Char char="–"/>
        <a:defRPr sz="2667">
          <a:solidFill>
            <a:schemeClr val="tx1"/>
          </a:solidFill>
          <a:latin typeface="+mn-lt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5pPr>
      <a:lvl6pPr marL="335271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6pPr>
      <a:lvl7pPr marL="3962301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7pPr>
      <a:lvl8pPr marL="457188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8pPr>
      <a:lvl9pPr marL="5181470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29E5E-2F70-C02E-EBB7-6F771770B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C5C3F908-119F-4724-9665-9772C6908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D9E71F32-9CF8-99C9-9190-DB2CBED1C1F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Regeln im Computerraum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41C3AA0E-3E30-FD5D-6445-2A24BF496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00B6337-9DB8-3FFC-C1E3-131E15BA1156}"/>
              </a:ext>
            </a:extLst>
          </p:cNvPr>
          <p:cNvSpPr txBox="1"/>
          <p:nvPr/>
        </p:nvSpPr>
        <p:spPr>
          <a:xfrm>
            <a:off x="702023" y="2086897"/>
            <a:ext cx="10164097" cy="310854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b="1" dirty="0"/>
              <a:t>Der Arbeitsauftrag wird befolgt (meist steht der vorne an der Tafel/am </a:t>
            </a:r>
            <a:r>
              <a:rPr lang="de-DE" sz="2800" b="1" dirty="0" err="1"/>
              <a:t>Beamer</a:t>
            </a:r>
            <a:r>
              <a:rPr lang="de-DE" sz="2800" b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b="1" dirty="0"/>
              <a:t>Es werden keine anderen Programme/Apps angeklickt, die nicht benötigt werden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b="1" dirty="0"/>
              <a:t>Nicht beim Banknachbar/bei der Banknachbarin tippen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60F8A1E-7D64-8D72-FD9A-5621B6EF5239}"/>
              </a:ext>
            </a:extLst>
          </p:cNvPr>
          <p:cNvSpPr txBox="1"/>
          <p:nvPr/>
        </p:nvSpPr>
        <p:spPr>
          <a:xfrm>
            <a:off x="10866120" y="1851645"/>
            <a:ext cx="1034257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9900" b="1" dirty="0">
                <a:solidFill>
                  <a:srgbClr val="FF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678855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3140F-7D39-6AED-EB9A-0CBD71578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6E5865D9-C778-5436-4A58-18388BB7B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28BABDBD-B145-4CCD-3814-7D3EECEE6A3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Klassenkarte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5571FCE7-D43E-4AF3-EABD-C00EB5A7F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095E0BF-FF67-D417-0AC7-9D0E2CBB0F74}"/>
              </a:ext>
            </a:extLst>
          </p:cNvPr>
          <p:cNvSpPr txBox="1"/>
          <p:nvPr/>
        </p:nvSpPr>
        <p:spPr>
          <a:xfrm>
            <a:off x="599768" y="1061884"/>
            <a:ext cx="90043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Nenne die Bestandteile einer Klassenkarte.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ED76F6D9-D41C-EF94-9522-9BE53144CF13}"/>
              </a:ext>
            </a:extLst>
          </p:cNvPr>
          <p:cNvGrpSpPr/>
          <p:nvPr/>
        </p:nvGrpSpPr>
        <p:grpSpPr>
          <a:xfrm>
            <a:off x="4347771" y="2841522"/>
            <a:ext cx="5417574" cy="3474883"/>
            <a:chOff x="835742" y="2212258"/>
            <a:chExt cx="5417574" cy="3474883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111C84CD-CE5A-30D3-5365-41CAB902AFC0}"/>
                </a:ext>
              </a:extLst>
            </p:cNvPr>
            <p:cNvSpPr/>
            <p:nvPr/>
          </p:nvSpPr>
          <p:spPr>
            <a:xfrm>
              <a:off x="835742" y="2212258"/>
              <a:ext cx="5417574" cy="70788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E4BB174C-7F9B-B546-A7AA-8BB1D5981805}"/>
                </a:ext>
              </a:extLst>
            </p:cNvPr>
            <p:cNvSpPr/>
            <p:nvPr/>
          </p:nvSpPr>
          <p:spPr>
            <a:xfrm>
              <a:off x="835742" y="2920143"/>
              <a:ext cx="5417574" cy="138349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0F157D83-6EF6-C984-FC74-B9304F9A236E}"/>
                </a:ext>
              </a:extLst>
            </p:cNvPr>
            <p:cNvSpPr/>
            <p:nvPr/>
          </p:nvSpPr>
          <p:spPr>
            <a:xfrm>
              <a:off x="835742" y="4303642"/>
              <a:ext cx="5417574" cy="138349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9" name="Textfeld 8">
            <a:extLst>
              <a:ext uri="{FF2B5EF4-FFF2-40B4-BE49-F238E27FC236}">
                <a16:creationId xmlns:a16="http://schemas.microsoft.com/office/drawing/2014/main" id="{9C92A27E-9B35-8D24-41D8-C8AF871EDD12}"/>
              </a:ext>
            </a:extLst>
          </p:cNvPr>
          <p:cNvSpPr txBox="1"/>
          <p:nvPr/>
        </p:nvSpPr>
        <p:spPr>
          <a:xfrm>
            <a:off x="599768" y="1987728"/>
            <a:ext cx="23920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3 Bereiche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7DC7CA7-F7F5-F04F-1DC5-886053749163}"/>
              </a:ext>
            </a:extLst>
          </p:cNvPr>
          <p:cNvSpPr txBox="1"/>
          <p:nvPr/>
        </p:nvSpPr>
        <p:spPr>
          <a:xfrm>
            <a:off x="599768" y="2861186"/>
            <a:ext cx="29209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6"/>
                </a:solidFill>
              </a:rPr>
              <a:t>Klassenname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62E0BCC-26CE-F0B7-AF9C-C6BA78E27011}"/>
              </a:ext>
            </a:extLst>
          </p:cNvPr>
          <p:cNvSpPr txBox="1"/>
          <p:nvPr/>
        </p:nvSpPr>
        <p:spPr>
          <a:xfrm>
            <a:off x="599768" y="3932938"/>
            <a:ext cx="30909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</a:rPr>
              <a:t>Eigenschaften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9A85214-408D-9DFF-FED8-C2CF09D28437}"/>
              </a:ext>
            </a:extLst>
          </p:cNvPr>
          <p:cNvSpPr txBox="1"/>
          <p:nvPr/>
        </p:nvSpPr>
        <p:spPr>
          <a:xfrm>
            <a:off x="599768" y="5168535"/>
            <a:ext cx="26068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rgbClr val="7030A0"/>
                </a:solidFill>
              </a:rPr>
              <a:t>Fähigkeiten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4D3D295-3B9D-F1BC-5FBD-5AE1F2CC58F9}"/>
              </a:ext>
            </a:extLst>
          </p:cNvPr>
          <p:cNvSpPr txBox="1"/>
          <p:nvPr/>
        </p:nvSpPr>
        <p:spPr>
          <a:xfrm>
            <a:off x="4403639" y="3533270"/>
            <a:ext cx="326243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attribut1;</a:t>
            </a:r>
          </a:p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attribut2;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31A0EF4-49B3-D128-C7BB-8D44AEC9412B}"/>
              </a:ext>
            </a:extLst>
          </p:cNvPr>
          <p:cNvSpPr txBox="1"/>
          <p:nvPr/>
        </p:nvSpPr>
        <p:spPr>
          <a:xfrm>
            <a:off x="4403639" y="2879621"/>
            <a:ext cx="38779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Beispielname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EF5E518-3D11-A0DD-8FDA-A194EDA45DAF}"/>
              </a:ext>
            </a:extLst>
          </p:cNvPr>
          <p:cNvSpPr txBox="1"/>
          <p:nvPr/>
        </p:nvSpPr>
        <p:spPr>
          <a:xfrm>
            <a:off x="4403639" y="5011498"/>
            <a:ext cx="357020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methode1();</a:t>
            </a:r>
          </a:p>
          <a:p>
            <a:r>
              <a:rPr lang="de-DE" sz="40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methode2();</a:t>
            </a:r>
          </a:p>
        </p:txBody>
      </p:sp>
    </p:spTree>
    <p:extLst>
      <p:ext uri="{BB962C8B-B14F-4D97-AF65-F5344CB8AC3E}">
        <p14:creationId xmlns:p14="http://schemas.microsoft.com/office/powerpoint/2010/main" val="3648713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  <p:bldP spid="12" grpId="0"/>
      <p:bldP spid="13" grpId="0"/>
      <p:bldP spid="14" grpId="0"/>
      <p:bldP spid="15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DAE92-4D86-D08C-9BBA-6251D77E4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011B232E-684B-EDC2-500A-035F3B9A3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82C4C84E-3EC6-19CB-D73F-29AC7E7C8D6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Klassenkarte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3BD0CFE8-922A-8E4E-D8C4-9D452B6C8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AA82D6C-D0ED-1435-CE78-493657CF8875}"/>
              </a:ext>
            </a:extLst>
          </p:cNvPr>
          <p:cNvSpPr txBox="1"/>
          <p:nvPr/>
        </p:nvSpPr>
        <p:spPr>
          <a:xfrm>
            <a:off x="599768" y="1061884"/>
            <a:ext cx="10956846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Eine Klasse ist wie ein Bauplan, aus dem man etwas</a:t>
            </a:r>
          </a:p>
          <a:p>
            <a:r>
              <a:rPr lang="de-DE" sz="4000" dirty="0"/>
              <a:t>generieren kann.</a:t>
            </a:r>
          </a:p>
          <a:p>
            <a:r>
              <a:rPr lang="de-DE" sz="4000" dirty="0"/>
              <a:t>Nennt ein Beispiel für eine Klasse. </a:t>
            </a:r>
          </a:p>
          <a:p>
            <a:endParaRPr lang="de-DE" sz="4000" dirty="0"/>
          </a:p>
          <a:p>
            <a:r>
              <a:rPr lang="de-DE" sz="4000" dirty="0"/>
              <a:t>Zeichne eine Klassenkarte.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7A243BDA-7D96-622B-A725-F620277743CA}"/>
              </a:ext>
            </a:extLst>
          </p:cNvPr>
          <p:cNvGrpSpPr/>
          <p:nvPr/>
        </p:nvGrpSpPr>
        <p:grpSpPr>
          <a:xfrm>
            <a:off x="6304587" y="3088410"/>
            <a:ext cx="5417574" cy="3474883"/>
            <a:chOff x="835742" y="2212258"/>
            <a:chExt cx="5417574" cy="3474883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2ED5E025-9E3E-F7FE-A16D-9A39E0CB804F}"/>
                </a:ext>
              </a:extLst>
            </p:cNvPr>
            <p:cNvSpPr/>
            <p:nvPr/>
          </p:nvSpPr>
          <p:spPr>
            <a:xfrm>
              <a:off x="835742" y="2212258"/>
              <a:ext cx="5417574" cy="70788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5C36D846-B9EC-370E-A2A2-44115A7A9A01}"/>
                </a:ext>
              </a:extLst>
            </p:cNvPr>
            <p:cNvSpPr/>
            <p:nvPr/>
          </p:nvSpPr>
          <p:spPr>
            <a:xfrm>
              <a:off x="835742" y="2920143"/>
              <a:ext cx="5417574" cy="138349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BE6DE9EF-81BA-6579-7CD9-3E0537AE7DF7}"/>
                </a:ext>
              </a:extLst>
            </p:cNvPr>
            <p:cNvSpPr/>
            <p:nvPr/>
          </p:nvSpPr>
          <p:spPr>
            <a:xfrm>
              <a:off x="835742" y="4303642"/>
              <a:ext cx="5417574" cy="138349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8" name="Textfeld 17">
            <a:extLst>
              <a:ext uri="{FF2B5EF4-FFF2-40B4-BE49-F238E27FC236}">
                <a16:creationId xmlns:a16="http://schemas.microsoft.com/office/drawing/2014/main" id="{BB8C463C-C976-6C70-EE17-603548CE23D9}"/>
              </a:ext>
            </a:extLst>
          </p:cNvPr>
          <p:cNvSpPr txBox="1"/>
          <p:nvPr/>
        </p:nvSpPr>
        <p:spPr>
          <a:xfrm>
            <a:off x="6360455" y="3126509"/>
            <a:ext cx="38779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Beispielname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45E41BE-1764-E029-CC4C-60CB1BCD9593}"/>
              </a:ext>
            </a:extLst>
          </p:cNvPr>
          <p:cNvSpPr txBox="1"/>
          <p:nvPr/>
        </p:nvSpPr>
        <p:spPr>
          <a:xfrm>
            <a:off x="6360455" y="3780158"/>
            <a:ext cx="326243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attribut1;</a:t>
            </a:r>
          </a:p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attribut2;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536A5F3D-83B6-8C5D-5A14-64009C80186C}"/>
              </a:ext>
            </a:extLst>
          </p:cNvPr>
          <p:cNvSpPr txBox="1"/>
          <p:nvPr/>
        </p:nvSpPr>
        <p:spPr>
          <a:xfrm>
            <a:off x="6360455" y="5258386"/>
            <a:ext cx="357020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methode1();</a:t>
            </a:r>
          </a:p>
          <a:p>
            <a:r>
              <a:rPr lang="de-DE" sz="40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methode2();</a:t>
            </a:r>
          </a:p>
        </p:txBody>
      </p:sp>
    </p:spTree>
    <p:extLst>
      <p:ext uri="{BB962C8B-B14F-4D97-AF65-F5344CB8AC3E}">
        <p14:creationId xmlns:p14="http://schemas.microsoft.com/office/powerpoint/2010/main" val="3045836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87582-8307-05C9-721E-17F1074CD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2959002A-809B-1D93-9361-60514935A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92B3A371-CA5A-7276-C70C-F31DD90E0D5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Objektkarte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2E7C80A1-BEBE-5A5C-8A20-66A2B4695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63B7C8E3-65A0-8BD2-DFA5-5FE516E2BAD5}"/>
              </a:ext>
            </a:extLst>
          </p:cNvPr>
          <p:cNvSpPr txBox="1"/>
          <p:nvPr/>
        </p:nvSpPr>
        <p:spPr>
          <a:xfrm>
            <a:off x="599768" y="1061884"/>
            <a:ext cx="87751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Nenne die Bestandteile einer Objektkarte.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9BA7D8A-8E12-533E-1B8D-D59E16343746}"/>
              </a:ext>
            </a:extLst>
          </p:cNvPr>
          <p:cNvSpPr txBox="1"/>
          <p:nvPr/>
        </p:nvSpPr>
        <p:spPr>
          <a:xfrm>
            <a:off x="599768" y="1987728"/>
            <a:ext cx="23920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2 Bereiche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343B658-022F-1A1C-6968-DD0CA131D90E}"/>
              </a:ext>
            </a:extLst>
          </p:cNvPr>
          <p:cNvSpPr txBox="1"/>
          <p:nvPr/>
        </p:nvSpPr>
        <p:spPr>
          <a:xfrm>
            <a:off x="599768" y="2861186"/>
            <a:ext cx="26917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6"/>
                </a:solidFill>
              </a:rPr>
              <a:t>Objektname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01FB644-518F-B312-5ECC-DF313D3E1D21}"/>
              </a:ext>
            </a:extLst>
          </p:cNvPr>
          <p:cNvSpPr txBox="1"/>
          <p:nvPr/>
        </p:nvSpPr>
        <p:spPr>
          <a:xfrm>
            <a:off x="202841" y="3925313"/>
            <a:ext cx="44476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</a:rPr>
              <a:t>(Wert-)Zuweisungen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8F02C098-9AB0-5B2A-2072-D2D5E9496B8F}"/>
              </a:ext>
            </a:extLst>
          </p:cNvPr>
          <p:cNvSpPr/>
          <p:nvPr/>
        </p:nvSpPr>
        <p:spPr>
          <a:xfrm>
            <a:off x="5545394" y="2695614"/>
            <a:ext cx="5525729" cy="339055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1E03C32-9298-6438-711D-E8737F40188D}"/>
              </a:ext>
            </a:extLst>
          </p:cNvPr>
          <p:cNvSpPr txBox="1"/>
          <p:nvPr/>
        </p:nvSpPr>
        <p:spPr>
          <a:xfrm>
            <a:off x="5745422" y="2825384"/>
            <a:ext cx="38779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Beispielname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E8A5519-D0A6-71DA-A5F1-0B7A3B647210}"/>
              </a:ext>
            </a:extLst>
          </p:cNvPr>
          <p:cNvSpPr txBox="1"/>
          <p:nvPr/>
        </p:nvSpPr>
        <p:spPr>
          <a:xfrm>
            <a:off x="5745422" y="3533270"/>
            <a:ext cx="326243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attribut1;</a:t>
            </a:r>
          </a:p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attribut2;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75003F15-8275-747D-11DC-AD101F595A13}"/>
              </a:ext>
            </a:extLst>
          </p:cNvPr>
          <p:cNvCxnSpPr/>
          <p:nvPr/>
        </p:nvCxnSpPr>
        <p:spPr>
          <a:xfrm>
            <a:off x="5545394" y="3429000"/>
            <a:ext cx="552572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314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  <p:bldP spid="12" grpId="0"/>
      <p:bldP spid="4" grpId="0" animBg="1"/>
      <p:bldP spid="15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06CF7-A5B1-641A-019F-49645B617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E3557DDE-F544-BD8B-48C9-B678AB775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04EA4F39-29AE-89A3-74FE-A3501C048BA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Objektkarte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69222B31-7D81-BAE6-8E7D-6A45147D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E1ADB75-FB01-93D2-0210-B53A4933346E}"/>
              </a:ext>
            </a:extLst>
          </p:cNvPr>
          <p:cNvSpPr txBox="1"/>
          <p:nvPr/>
        </p:nvSpPr>
        <p:spPr>
          <a:xfrm>
            <a:off x="599768" y="1061884"/>
            <a:ext cx="81195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Zeichne eine beispielhafte Objektkarte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4CFD3688-5137-53F4-1777-51ECADCD3CC6}"/>
              </a:ext>
            </a:extLst>
          </p:cNvPr>
          <p:cNvSpPr/>
          <p:nvPr/>
        </p:nvSpPr>
        <p:spPr>
          <a:xfrm>
            <a:off x="5545394" y="2695614"/>
            <a:ext cx="5525729" cy="339055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D008C5A-4EBC-9CF3-A104-442DED8012EC}"/>
              </a:ext>
            </a:extLst>
          </p:cNvPr>
          <p:cNvSpPr txBox="1"/>
          <p:nvPr/>
        </p:nvSpPr>
        <p:spPr>
          <a:xfrm>
            <a:off x="5745422" y="2825384"/>
            <a:ext cx="38779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Beispielname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0375642-202A-DF95-30C9-423BED101A3C}"/>
              </a:ext>
            </a:extLst>
          </p:cNvPr>
          <p:cNvSpPr txBox="1"/>
          <p:nvPr/>
        </p:nvSpPr>
        <p:spPr>
          <a:xfrm>
            <a:off x="5745422" y="3533270"/>
            <a:ext cx="326243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attribut1;</a:t>
            </a:r>
          </a:p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attribut2;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A36CB3B5-D431-6F7B-6C37-D5C8F8252116}"/>
              </a:ext>
            </a:extLst>
          </p:cNvPr>
          <p:cNvCxnSpPr/>
          <p:nvPr/>
        </p:nvCxnSpPr>
        <p:spPr>
          <a:xfrm>
            <a:off x="5545394" y="3429000"/>
            <a:ext cx="552572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4780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A6F79-3013-E829-C50B-12135829B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302FBF37-9C2F-C4EF-E6B0-754A50E9C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BB702817-2167-39B6-9D1C-FCE8363DFE2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Rollenspiel - Klasse Roboter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224E1FD5-42CF-A02E-EB7B-F26293C06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E9D67C3-C7DD-28F6-35DE-28EFD63239FD}"/>
              </a:ext>
            </a:extLst>
          </p:cNvPr>
          <p:cNvSpPr txBox="1"/>
          <p:nvPr/>
        </p:nvSpPr>
        <p:spPr>
          <a:xfrm>
            <a:off x="653807" y="1197828"/>
            <a:ext cx="18229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dirty="0"/>
              <a:t>Klasse</a:t>
            </a:r>
          </a:p>
        </p:txBody>
      </p:sp>
      <p:pic>
        <p:nvPicPr>
          <p:cNvPr id="9" name="Grafik 8" descr="Liste mit einfarbiger Füllung">
            <a:extLst>
              <a:ext uri="{FF2B5EF4-FFF2-40B4-BE49-F238E27FC236}">
                <a16:creationId xmlns:a16="http://schemas.microsoft.com/office/drawing/2014/main" id="{76445335-6F64-0254-BB6D-004FC3877A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4229" y="2627313"/>
            <a:ext cx="914400" cy="914400"/>
          </a:xfrm>
          <a:prstGeom prst="rect">
            <a:avLst/>
          </a:prstGeom>
        </p:spPr>
      </p:pic>
      <p:pic>
        <p:nvPicPr>
          <p:cNvPr id="11" name="Grafik 10" descr="Mann Silhouette">
            <a:extLst>
              <a:ext uri="{FF2B5EF4-FFF2-40B4-BE49-F238E27FC236}">
                <a16:creationId xmlns:a16="http://schemas.microsoft.com/office/drawing/2014/main" id="{2714558A-3561-9C61-2F12-144B8ECD97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9586" y="2028825"/>
            <a:ext cx="2111376" cy="2111376"/>
          </a:xfrm>
          <a:prstGeom prst="rect">
            <a:avLst/>
          </a:prstGeom>
        </p:spPr>
      </p:pic>
      <p:sp>
        <p:nvSpPr>
          <p:cNvPr id="12" name="Pfeil: nach rechts 11">
            <a:extLst>
              <a:ext uri="{FF2B5EF4-FFF2-40B4-BE49-F238E27FC236}">
                <a16:creationId xmlns:a16="http://schemas.microsoft.com/office/drawing/2014/main" id="{B50563B9-F332-0C4A-8BB8-89978BBF410A}"/>
              </a:ext>
            </a:extLst>
          </p:cNvPr>
          <p:cNvSpPr/>
          <p:nvPr/>
        </p:nvSpPr>
        <p:spPr>
          <a:xfrm>
            <a:off x="3155949" y="2370138"/>
            <a:ext cx="4076700" cy="12493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800" b="1" dirty="0"/>
              <a:t>erstellt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7812371F-9515-CE96-D6A8-548A8D816741}"/>
              </a:ext>
            </a:extLst>
          </p:cNvPr>
          <p:cNvSpPr txBox="1"/>
          <p:nvPr/>
        </p:nvSpPr>
        <p:spPr>
          <a:xfrm>
            <a:off x="7698075" y="1246465"/>
            <a:ext cx="18598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dirty="0"/>
              <a:t>Objekt</a:t>
            </a:r>
          </a:p>
        </p:txBody>
      </p:sp>
      <p:pic>
        <p:nvPicPr>
          <p:cNvPr id="19" name="Grafik 18" descr="Mann Silhouette">
            <a:extLst>
              <a:ext uri="{FF2B5EF4-FFF2-40B4-BE49-F238E27FC236}">
                <a16:creationId xmlns:a16="http://schemas.microsoft.com/office/drawing/2014/main" id="{BC3C3F75-BF45-7B65-3812-38E0935FE8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3854" y="2077462"/>
            <a:ext cx="2111376" cy="2111376"/>
          </a:xfrm>
          <a:prstGeom prst="rect">
            <a:avLst/>
          </a:prstGeom>
        </p:spPr>
      </p:pic>
      <p:pic>
        <p:nvPicPr>
          <p:cNvPr id="21" name="Grafik 20" descr="Roboter mit einfarbiger Füllung">
            <a:extLst>
              <a:ext uri="{FF2B5EF4-FFF2-40B4-BE49-F238E27FC236}">
                <a16:creationId xmlns:a16="http://schemas.microsoft.com/office/drawing/2014/main" id="{7434286C-8C54-F968-38DC-D59F47CA4D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8653004" y="2516187"/>
            <a:ext cx="1103313" cy="1103313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79CB9F01-BA76-73A9-BB3D-65F9BE24917D}"/>
              </a:ext>
            </a:extLst>
          </p:cNvPr>
          <p:cNvSpPr txBox="1"/>
          <p:nvPr/>
        </p:nvSpPr>
        <p:spPr>
          <a:xfrm>
            <a:off x="653807" y="4752975"/>
            <a:ext cx="6865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Eigenschaften des Roboters: Baujahr, Energie</a:t>
            </a:r>
          </a:p>
        </p:txBody>
      </p:sp>
    </p:spTree>
    <p:extLst>
      <p:ext uri="{BB962C8B-B14F-4D97-AF65-F5344CB8AC3E}">
        <p14:creationId xmlns:p14="http://schemas.microsoft.com/office/powerpoint/2010/main" val="3181054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 animBg="1"/>
      <p:bldP spid="17" grpId="0"/>
      <p:bldP spid="22" grpId="0"/>
    </p:bldLst>
  </p:timing>
</p:sld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</Words>
  <Application>Microsoft Office PowerPoint</Application>
  <PresentationFormat>Breitbild</PresentationFormat>
  <Paragraphs>47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Aptos</vt:lpstr>
      <vt:lpstr>Arial</vt:lpstr>
      <vt:lpstr>Courier New</vt:lpstr>
      <vt:lpstr>Times New Roman</vt:lpstr>
      <vt:lpstr>Standarddesign</vt:lpstr>
      <vt:lpstr>Regeln im Computerraum</vt:lpstr>
      <vt:lpstr>Wiederholung: Klassenkarte</vt:lpstr>
      <vt:lpstr>Wiederholung: Klassenkarte</vt:lpstr>
      <vt:lpstr>Wiederholung: Objektkarte</vt:lpstr>
      <vt:lpstr>Wiederholung: Objektkarte</vt:lpstr>
      <vt:lpstr>Rollenspiel - Klasse Roboter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Franke</dc:creator>
  <cp:lastModifiedBy>Florian Franke</cp:lastModifiedBy>
  <cp:revision>225</cp:revision>
  <dcterms:created xsi:type="dcterms:W3CDTF">2024-12-17T13:39:15Z</dcterms:created>
  <dcterms:modified xsi:type="dcterms:W3CDTF">2026-06-24T21:29:45Z</dcterms:modified>
</cp:coreProperties>
</file>