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404" r:id="rId2"/>
    <p:sldId id="410" r:id="rId3"/>
    <p:sldId id="405" r:id="rId4"/>
    <p:sldId id="411" r:id="rId5"/>
    <p:sldId id="421" r:id="rId6"/>
    <p:sldId id="416" r:id="rId7"/>
    <p:sldId id="417" r:id="rId8"/>
    <p:sldId id="418" r:id="rId9"/>
    <p:sldId id="419" r:id="rId10"/>
    <p:sldId id="420" r:id="rId11"/>
    <p:sldId id="415" r:id="rId1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125" autoAdjust="0"/>
  </p:normalViewPr>
  <p:slideViewPr>
    <p:cSldViewPr snapToGrid="0">
      <p:cViewPr varScale="1">
        <p:scale>
          <a:sx n="70" d="100"/>
          <a:sy n="70" d="100"/>
        </p:scale>
        <p:origin x="536" y="6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14FC7C-4090-4DE3-B7A6-823389B1DB10}" type="datetimeFigureOut">
              <a:rPr lang="de-DE" smtClean="0"/>
              <a:t>24.06.2026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0C4371-8A94-497C-981A-5985C1B3E19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34395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914400" y="2130429"/>
            <a:ext cx="10363200" cy="1470025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609585" indent="0" algn="ctr">
              <a:buNone/>
              <a:defRPr/>
            </a:lvl2pPr>
            <a:lvl3pPr marL="1219170" indent="0" algn="ctr">
              <a:buNone/>
              <a:defRPr/>
            </a:lvl3pPr>
            <a:lvl4pPr marL="1828754" indent="0" algn="ctr">
              <a:buNone/>
              <a:defRPr/>
            </a:lvl4pPr>
            <a:lvl5pPr marL="2438339" indent="0" algn="ctr">
              <a:buNone/>
              <a:defRPr/>
            </a:lvl5pPr>
            <a:lvl6pPr marL="3047924" indent="0" algn="ctr">
              <a:buNone/>
              <a:defRPr/>
            </a:lvl6pPr>
            <a:lvl7pPr marL="3657509" indent="0" algn="ctr">
              <a:buNone/>
              <a:defRPr/>
            </a:lvl7pPr>
            <a:lvl8pPr marL="4267093" indent="0" algn="ctr">
              <a:buNone/>
              <a:defRPr/>
            </a:lvl8pPr>
            <a:lvl9pPr marL="4876678" indent="0" algn="ctr">
              <a:buNone/>
              <a:defRPr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69D955-DF9D-41CC-8346-A66ABF961EC2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9671013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13D6CF-C951-4233-8C05-FC2B7D27C8E5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491190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/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96D5AE-7254-4A0E-BF27-8ACCF86131F7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340038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92D9C1-8307-48E2-95E3-5C299A4B6B87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41906697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93374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93374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A21E99-019C-4610-8E89-15627F058E74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8971406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DCD810-417C-4FC0-911C-8A532555A5F3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367788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6F58B3-F613-4188-ABD5-75C2EFD60343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02602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09607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766733" y="273054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609607" y="1435104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CF907C-0B38-4B04-B99A-47828357F1EA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7508391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endParaRPr lang="de-DE" noProof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2389717" y="5367341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CB12EC-29C9-4953-96D2-AC1247C0411B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597380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2B2177-6598-49A4-A093-FCDB8A1488ED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579142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F8BC58-F9EE-4EF4-8BA7-73D1623D7F6A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87831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99FF"/>
            </a:gs>
            <a:gs pos="100000">
              <a:srgbClr val="C9E9FF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Klicken Sie, um das Titelformat zu bearbeiten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Klicken Sie, um die Formate des Vorlagentextes zu bearbeiten</a:t>
            </a:r>
          </a:p>
          <a:p>
            <a:pPr lvl="1"/>
            <a:r>
              <a:rPr lang="de-DE" altLang="de-DE"/>
              <a:t>Zweite Ebene</a:t>
            </a:r>
          </a:p>
          <a:p>
            <a:pPr lvl="2"/>
            <a:r>
              <a:rPr lang="de-DE" altLang="de-DE"/>
              <a:t>Dritte Ebene</a:t>
            </a:r>
          </a:p>
          <a:p>
            <a:pPr lvl="3"/>
            <a:r>
              <a:rPr lang="de-DE" altLang="de-DE"/>
              <a:t>Vierte Ebene</a:t>
            </a:r>
          </a:p>
          <a:p>
            <a:pPr lvl="4"/>
            <a:r>
              <a:rPr lang="de-DE" altLang="de-DE"/>
              <a:t>Fünfte Ebene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867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867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867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fld id="{9CF637A9-2672-485D-BB5A-0633926A8C3A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696063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5pPr>
      <a:lvl6pPr marL="609585" algn="ctr" rtl="0" fontAlgn="base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6pPr>
      <a:lvl7pPr marL="1219170" algn="ctr" rtl="0" fontAlgn="base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7pPr>
      <a:lvl8pPr marL="1828754" algn="ctr" rtl="0" fontAlgn="base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8pPr>
      <a:lvl9pPr marL="2438339" algn="ctr" rtl="0" fontAlgn="base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9pPr>
    </p:titleStyle>
    <p:bodyStyle>
      <a:lvl1pPr marL="457189" indent="-457189" algn="l" rtl="0" eaLnBrk="0" fontAlgn="base" hangingPunct="0">
        <a:spcBef>
          <a:spcPct val="20000"/>
        </a:spcBef>
        <a:spcAft>
          <a:spcPct val="0"/>
        </a:spcAft>
        <a:buChar char="•"/>
        <a:defRPr sz="4267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rtl="0" eaLnBrk="0" fontAlgn="base" hangingPunct="0">
        <a:spcBef>
          <a:spcPct val="20000"/>
        </a:spcBef>
        <a:spcAft>
          <a:spcPct val="0"/>
        </a:spcAft>
        <a:buChar char="–"/>
        <a:defRPr sz="3733">
          <a:solidFill>
            <a:schemeClr val="tx1"/>
          </a:solidFill>
          <a:latin typeface="+mn-lt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Char char="–"/>
        <a:defRPr sz="2667">
          <a:solidFill>
            <a:schemeClr val="tx1"/>
          </a:solidFill>
          <a:latin typeface="+mn-lt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5pPr>
      <a:lvl6pPr marL="3352716" indent="-304792" algn="l" rtl="0" fontAlgn="base">
        <a:spcBef>
          <a:spcPct val="2000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6pPr>
      <a:lvl7pPr marL="3962301" indent="-304792" algn="l" rtl="0" fontAlgn="base">
        <a:spcBef>
          <a:spcPct val="2000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7pPr>
      <a:lvl8pPr marL="4571886" indent="-304792" algn="l" rtl="0" fontAlgn="base">
        <a:spcBef>
          <a:spcPct val="2000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8pPr>
      <a:lvl9pPr marL="5181470" indent="-304792" algn="l" rtl="0" fontAlgn="base">
        <a:spcBef>
          <a:spcPct val="2000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D3140F-7D39-6AED-EB9A-0CBD71578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6E5865D9-C778-5436-4A58-18388BB7B5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09600"/>
          </a:xfrm>
          <a:prstGeom prst="rect">
            <a:avLst/>
          </a:prstGeom>
          <a:solidFill>
            <a:srgbClr val="3366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28BABDBD-B145-4CCD-3814-7D3EECEE6A3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03200" y="152400"/>
            <a:ext cx="7315200" cy="304800"/>
          </a:xfrm>
        </p:spPr>
        <p:txBody>
          <a:bodyPr/>
          <a:lstStyle/>
          <a:p>
            <a:pPr algn="l" eaLnBrk="1" hangingPunct="1"/>
            <a:r>
              <a:rPr lang="de-DE" altLang="de-DE" sz="2667" dirty="0">
                <a:solidFill>
                  <a:schemeClr val="bg1"/>
                </a:solidFill>
                <a:latin typeface="Arial" charset="0"/>
              </a:rPr>
              <a:t>Wiederholung: Klassenkarte</a:t>
            </a:r>
          </a:p>
        </p:txBody>
      </p:sp>
      <p:sp>
        <p:nvSpPr>
          <p:cNvPr id="84996" name="Rectangle 4">
            <a:extLst>
              <a:ext uri="{FF2B5EF4-FFF2-40B4-BE49-F238E27FC236}">
                <a16:creationId xmlns:a16="http://schemas.microsoft.com/office/drawing/2014/main" id="{5571FCE7-D43E-4AF3-EABD-C00EB5A7FE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067" y="-2651125"/>
            <a:ext cx="12192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B095E0BF-FF67-D417-0AC7-9D0E2CBB0F74}"/>
              </a:ext>
            </a:extLst>
          </p:cNvPr>
          <p:cNvSpPr txBox="1"/>
          <p:nvPr/>
        </p:nvSpPr>
        <p:spPr>
          <a:xfrm>
            <a:off x="599768" y="1061884"/>
            <a:ext cx="90043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000" dirty="0"/>
              <a:t>Nenne die Bestandteile einer Klassenkarte.</a:t>
            </a:r>
          </a:p>
        </p:txBody>
      </p: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ED76F6D9-D41C-EF94-9522-9BE53144CF13}"/>
              </a:ext>
            </a:extLst>
          </p:cNvPr>
          <p:cNvGrpSpPr/>
          <p:nvPr/>
        </p:nvGrpSpPr>
        <p:grpSpPr>
          <a:xfrm>
            <a:off x="4347771" y="2841522"/>
            <a:ext cx="5417574" cy="3474883"/>
            <a:chOff x="835742" y="2212258"/>
            <a:chExt cx="5417574" cy="3474883"/>
          </a:xfrm>
        </p:grpSpPr>
        <p:sp>
          <p:nvSpPr>
            <p:cNvPr id="3" name="Rechteck 2">
              <a:extLst>
                <a:ext uri="{FF2B5EF4-FFF2-40B4-BE49-F238E27FC236}">
                  <a16:creationId xmlns:a16="http://schemas.microsoft.com/office/drawing/2014/main" id="{111C84CD-CE5A-30D3-5365-41CAB902AFC0}"/>
                </a:ext>
              </a:extLst>
            </p:cNvPr>
            <p:cNvSpPr/>
            <p:nvPr/>
          </p:nvSpPr>
          <p:spPr>
            <a:xfrm>
              <a:off x="835742" y="2212258"/>
              <a:ext cx="5417574" cy="70788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" name="Rechteck 4">
              <a:extLst>
                <a:ext uri="{FF2B5EF4-FFF2-40B4-BE49-F238E27FC236}">
                  <a16:creationId xmlns:a16="http://schemas.microsoft.com/office/drawing/2014/main" id="{E4BB174C-7F9B-B546-A7AA-8BB1D5981805}"/>
                </a:ext>
              </a:extLst>
            </p:cNvPr>
            <p:cNvSpPr/>
            <p:nvPr/>
          </p:nvSpPr>
          <p:spPr>
            <a:xfrm>
              <a:off x="835742" y="2920143"/>
              <a:ext cx="5417574" cy="1383499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" name="Rechteck 6">
              <a:extLst>
                <a:ext uri="{FF2B5EF4-FFF2-40B4-BE49-F238E27FC236}">
                  <a16:creationId xmlns:a16="http://schemas.microsoft.com/office/drawing/2014/main" id="{0F157D83-6EF6-C984-FC74-B9304F9A236E}"/>
                </a:ext>
              </a:extLst>
            </p:cNvPr>
            <p:cNvSpPr/>
            <p:nvPr/>
          </p:nvSpPr>
          <p:spPr>
            <a:xfrm>
              <a:off x="835742" y="4303642"/>
              <a:ext cx="5417574" cy="1383499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9" name="Textfeld 8">
            <a:extLst>
              <a:ext uri="{FF2B5EF4-FFF2-40B4-BE49-F238E27FC236}">
                <a16:creationId xmlns:a16="http://schemas.microsoft.com/office/drawing/2014/main" id="{9C92A27E-9B35-8D24-41D8-C8AF871EDD12}"/>
              </a:ext>
            </a:extLst>
          </p:cNvPr>
          <p:cNvSpPr txBox="1"/>
          <p:nvPr/>
        </p:nvSpPr>
        <p:spPr>
          <a:xfrm>
            <a:off x="599768" y="1987728"/>
            <a:ext cx="239200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000" dirty="0"/>
              <a:t>3 Bereiche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97DC7CA7-F7F5-F04F-1DC5-886053749163}"/>
              </a:ext>
            </a:extLst>
          </p:cNvPr>
          <p:cNvSpPr txBox="1"/>
          <p:nvPr/>
        </p:nvSpPr>
        <p:spPr>
          <a:xfrm>
            <a:off x="599768" y="2861186"/>
            <a:ext cx="292099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000" dirty="0">
                <a:solidFill>
                  <a:schemeClr val="accent6"/>
                </a:solidFill>
              </a:rPr>
              <a:t>Klassenname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862E0BCC-26CE-F0B7-AF9C-C6BA78E27011}"/>
              </a:ext>
            </a:extLst>
          </p:cNvPr>
          <p:cNvSpPr txBox="1"/>
          <p:nvPr/>
        </p:nvSpPr>
        <p:spPr>
          <a:xfrm>
            <a:off x="599768" y="3932938"/>
            <a:ext cx="309091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000" dirty="0">
                <a:solidFill>
                  <a:schemeClr val="accent1">
                    <a:lumMod val="50000"/>
                  </a:schemeClr>
                </a:solidFill>
              </a:rPr>
              <a:t>Eigenschaften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E9A85214-408D-9DFF-FED8-C2CF09D28437}"/>
              </a:ext>
            </a:extLst>
          </p:cNvPr>
          <p:cNvSpPr txBox="1"/>
          <p:nvPr/>
        </p:nvSpPr>
        <p:spPr>
          <a:xfrm>
            <a:off x="599768" y="5168535"/>
            <a:ext cx="260680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000" dirty="0">
                <a:solidFill>
                  <a:srgbClr val="7030A0"/>
                </a:solidFill>
              </a:rPr>
              <a:t>Fähigkeiten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24D3D295-3B9D-F1BC-5FBD-5AE1F2CC58F9}"/>
              </a:ext>
            </a:extLst>
          </p:cNvPr>
          <p:cNvSpPr txBox="1"/>
          <p:nvPr/>
        </p:nvSpPr>
        <p:spPr>
          <a:xfrm>
            <a:off x="4403639" y="3533270"/>
            <a:ext cx="326243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00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attribut1;</a:t>
            </a:r>
          </a:p>
          <a:p>
            <a:r>
              <a:rPr lang="de-DE" sz="400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attribut2;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131A0EF4-49B3-D128-C7BB-8D44AEC9412B}"/>
              </a:ext>
            </a:extLst>
          </p:cNvPr>
          <p:cNvSpPr txBox="1"/>
          <p:nvPr/>
        </p:nvSpPr>
        <p:spPr>
          <a:xfrm>
            <a:off x="4403639" y="2879621"/>
            <a:ext cx="387798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0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Beispielname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0EF5E518-3D11-A0DD-8FDA-A194EDA45DAF}"/>
              </a:ext>
            </a:extLst>
          </p:cNvPr>
          <p:cNvSpPr txBox="1"/>
          <p:nvPr/>
        </p:nvSpPr>
        <p:spPr>
          <a:xfrm>
            <a:off x="4403639" y="5011498"/>
            <a:ext cx="357020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0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methode1();</a:t>
            </a:r>
          </a:p>
          <a:p>
            <a:r>
              <a:rPr lang="de-DE" sz="40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methode2();</a:t>
            </a:r>
          </a:p>
        </p:txBody>
      </p:sp>
    </p:spTree>
    <p:extLst>
      <p:ext uri="{BB962C8B-B14F-4D97-AF65-F5344CB8AC3E}">
        <p14:creationId xmlns:p14="http://schemas.microsoft.com/office/powerpoint/2010/main" val="3648713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/>
      <p:bldP spid="10" grpId="0"/>
      <p:bldP spid="12" grpId="0"/>
      <p:bldP spid="13" grpId="0"/>
      <p:bldP spid="14" grpId="0"/>
      <p:bldP spid="15" grpId="0"/>
      <p:bldP spid="1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ADAE92-4D86-D08C-9BBA-6251D77E4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011B232E-684B-EDC2-500A-035F3B9A38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09600"/>
          </a:xfrm>
          <a:prstGeom prst="rect">
            <a:avLst/>
          </a:prstGeom>
          <a:solidFill>
            <a:srgbClr val="3366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82C4C84E-3EC6-19CB-D73F-29AC7E7C8D6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03200" y="152400"/>
            <a:ext cx="7315200" cy="304800"/>
          </a:xfrm>
        </p:spPr>
        <p:txBody>
          <a:bodyPr/>
          <a:lstStyle/>
          <a:p>
            <a:pPr algn="l" eaLnBrk="1" hangingPunct="1"/>
            <a:r>
              <a:rPr lang="de-DE" altLang="de-DE" sz="2667" dirty="0">
                <a:solidFill>
                  <a:schemeClr val="bg1"/>
                </a:solidFill>
                <a:latin typeface="Arial" charset="0"/>
              </a:rPr>
              <a:t>Wiederholung: Klassenkarte</a:t>
            </a:r>
          </a:p>
        </p:txBody>
      </p:sp>
      <p:sp>
        <p:nvSpPr>
          <p:cNvPr id="84996" name="Rectangle 4">
            <a:extLst>
              <a:ext uri="{FF2B5EF4-FFF2-40B4-BE49-F238E27FC236}">
                <a16:creationId xmlns:a16="http://schemas.microsoft.com/office/drawing/2014/main" id="{3BD0CFE8-922A-8E4E-D8C4-9D452B6C84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067" y="-2651125"/>
            <a:ext cx="12192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8AA82D6C-D0ED-1435-CE78-493657CF8875}"/>
              </a:ext>
            </a:extLst>
          </p:cNvPr>
          <p:cNvSpPr txBox="1"/>
          <p:nvPr/>
        </p:nvSpPr>
        <p:spPr>
          <a:xfrm>
            <a:off x="599768" y="1061884"/>
            <a:ext cx="10956846" cy="317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000" dirty="0"/>
              <a:t>Eine Klasse ist wie ein Bauplan, aus dem man etwas</a:t>
            </a:r>
          </a:p>
          <a:p>
            <a:r>
              <a:rPr lang="de-DE" sz="4000" dirty="0"/>
              <a:t>generieren kann.</a:t>
            </a:r>
          </a:p>
          <a:p>
            <a:r>
              <a:rPr lang="de-DE" sz="4000" dirty="0"/>
              <a:t>Nennt ein Beispiel für eine Klasse. </a:t>
            </a:r>
          </a:p>
          <a:p>
            <a:endParaRPr lang="de-DE" sz="4000" dirty="0"/>
          </a:p>
          <a:p>
            <a:r>
              <a:rPr lang="de-DE" sz="4000" dirty="0"/>
              <a:t>Zeichne eine Klassenkarte.</a:t>
            </a: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7A243BDA-7D96-622B-A725-F620277743CA}"/>
              </a:ext>
            </a:extLst>
          </p:cNvPr>
          <p:cNvGrpSpPr/>
          <p:nvPr/>
        </p:nvGrpSpPr>
        <p:grpSpPr>
          <a:xfrm>
            <a:off x="6304587" y="3088410"/>
            <a:ext cx="5417574" cy="3474883"/>
            <a:chOff x="835742" y="2212258"/>
            <a:chExt cx="5417574" cy="3474883"/>
          </a:xfrm>
        </p:grpSpPr>
        <p:sp>
          <p:nvSpPr>
            <p:cNvPr id="6" name="Rechteck 5">
              <a:extLst>
                <a:ext uri="{FF2B5EF4-FFF2-40B4-BE49-F238E27FC236}">
                  <a16:creationId xmlns:a16="http://schemas.microsoft.com/office/drawing/2014/main" id="{2ED5E025-9E3E-F7FE-A16D-9A39E0CB804F}"/>
                </a:ext>
              </a:extLst>
            </p:cNvPr>
            <p:cNvSpPr/>
            <p:nvPr/>
          </p:nvSpPr>
          <p:spPr>
            <a:xfrm>
              <a:off x="835742" y="2212258"/>
              <a:ext cx="5417574" cy="70788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" name="Rechteck 10">
              <a:extLst>
                <a:ext uri="{FF2B5EF4-FFF2-40B4-BE49-F238E27FC236}">
                  <a16:creationId xmlns:a16="http://schemas.microsoft.com/office/drawing/2014/main" id="{5C36D846-B9EC-370E-A2A2-44115A7A9A01}"/>
                </a:ext>
              </a:extLst>
            </p:cNvPr>
            <p:cNvSpPr/>
            <p:nvPr/>
          </p:nvSpPr>
          <p:spPr>
            <a:xfrm>
              <a:off x="835742" y="2920143"/>
              <a:ext cx="5417574" cy="1383499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" name="Rechteck 16">
              <a:extLst>
                <a:ext uri="{FF2B5EF4-FFF2-40B4-BE49-F238E27FC236}">
                  <a16:creationId xmlns:a16="http://schemas.microsoft.com/office/drawing/2014/main" id="{BE6DE9EF-81BA-6579-7CD9-3E0537AE7DF7}"/>
                </a:ext>
              </a:extLst>
            </p:cNvPr>
            <p:cNvSpPr/>
            <p:nvPr/>
          </p:nvSpPr>
          <p:spPr>
            <a:xfrm>
              <a:off x="835742" y="4303642"/>
              <a:ext cx="5417574" cy="1383499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18" name="Textfeld 17">
            <a:extLst>
              <a:ext uri="{FF2B5EF4-FFF2-40B4-BE49-F238E27FC236}">
                <a16:creationId xmlns:a16="http://schemas.microsoft.com/office/drawing/2014/main" id="{BB8C463C-C976-6C70-EE17-603548CE23D9}"/>
              </a:ext>
            </a:extLst>
          </p:cNvPr>
          <p:cNvSpPr txBox="1"/>
          <p:nvPr/>
        </p:nvSpPr>
        <p:spPr>
          <a:xfrm>
            <a:off x="6360455" y="3126509"/>
            <a:ext cx="387798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0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Beispielname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A45E41BE-1764-E029-CC4C-60CB1BCD9593}"/>
              </a:ext>
            </a:extLst>
          </p:cNvPr>
          <p:cNvSpPr txBox="1"/>
          <p:nvPr/>
        </p:nvSpPr>
        <p:spPr>
          <a:xfrm>
            <a:off x="6360455" y="3780158"/>
            <a:ext cx="326243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00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attribut1;</a:t>
            </a:r>
          </a:p>
          <a:p>
            <a:r>
              <a:rPr lang="de-DE" sz="400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attribut2;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536A5F3D-83B6-8C5D-5A14-64009C80186C}"/>
              </a:ext>
            </a:extLst>
          </p:cNvPr>
          <p:cNvSpPr txBox="1"/>
          <p:nvPr/>
        </p:nvSpPr>
        <p:spPr>
          <a:xfrm>
            <a:off x="6360455" y="5258386"/>
            <a:ext cx="357020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0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methode1();</a:t>
            </a:r>
          </a:p>
          <a:p>
            <a:r>
              <a:rPr lang="de-DE" sz="40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methode2();</a:t>
            </a:r>
          </a:p>
        </p:txBody>
      </p:sp>
    </p:spTree>
    <p:extLst>
      <p:ext uri="{BB962C8B-B14F-4D97-AF65-F5344CB8AC3E}">
        <p14:creationId xmlns:p14="http://schemas.microsoft.com/office/powerpoint/2010/main" val="3045836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A87582-8307-05C9-721E-17F1074CD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2959002A-809B-1D93-9361-60514935A4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09600"/>
          </a:xfrm>
          <a:prstGeom prst="rect">
            <a:avLst/>
          </a:prstGeom>
          <a:solidFill>
            <a:srgbClr val="3366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92B3A371-CA5A-7276-C70C-F31DD90E0D5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03200" y="152400"/>
            <a:ext cx="7315200" cy="304800"/>
          </a:xfrm>
        </p:spPr>
        <p:txBody>
          <a:bodyPr/>
          <a:lstStyle/>
          <a:p>
            <a:pPr algn="l" eaLnBrk="1" hangingPunct="1"/>
            <a:r>
              <a:rPr lang="de-DE" altLang="de-DE" sz="2667" dirty="0">
                <a:solidFill>
                  <a:schemeClr val="bg1"/>
                </a:solidFill>
                <a:latin typeface="Arial" charset="0"/>
              </a:rPr>
              <a:t>Wiederholung: Objektkarte</a:t>
            </a:r>
          </a:p>
        </p:txBody>
      </p:sp>
      <p:sp>
        <p:nvSpPr>
          <p:cNvPr id="84996" name="Rectangle 4">
            <a:extLst>
              <a:ext uri="{FF2B5EF4-FFF2-40B4-BE49-F238E27FC236}">
                <a16:creationId xmlns:a16="http://schemas.microsoft.com/office/drawing/2014/main" id="{2E7C80A1-BEBE-5A5C-8A20-66A2B4695A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067" y="-2651125"/>
            <a:ext cx="12192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63B7C8E3-65A0-8BD2-DFA5-5FE516E2BAD5}"/>
              </a:ext>
            </a:extLst>
          </p:cNvPr>
          <p:cNvSpPr txBox="1"/>
          <p:nvPr/>
        </p:nvSpPr>
        <p:spPr>
          <a:xfrm>
            <a:off x="599768" y="1061884"/>
            <a:ext cx="877515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000" dirty="0"/>
              <a:t>Nenne die Bestandteile einer Objektkarte.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89BA7D8A-8E12-533E-1B8D-D59E16343746}"/>
              </a:ext>
            </a:extLst>
          </p:cNvPr>
          <p:cNvSpPr txBox="1"/>
          <p:nvPr/>
        </p:nvSpPr>
        <p:spPr>
          <a:xfrm>
            <a:off x="599768" y="1987728"/>
            <a:ext cx="239200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000" dirty="0"/>
              <a:t>2 Bereiche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B343B658-022F-1A1C-6968-DD0CA131D90E}"/>
              </a:ext>
            </a:extLst>
          </p:cNvPr>
          <p:cNvSpPr txBox="1"/>
          <p:nvPr/>
        </p:nvSpPr>
        <p:spPr>
          <a:xfrm>
            <a:off x="599768" y="2861186"/>
            <a:ext cx="269176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000" dirty="0">
                <a:solidFill>
                  <a:schemeClr val="accent6"/>
                </a:solidFill>
              </a:rPr>
              <a:t>Objektname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E01FB644-518F-B312-5ECC-DF313D3E1D21}"/>
              </a:ext>
            </a:extLst>
          </p:cNvPr>
          <p:cNvSpPr txBox="1"/>
          <p:nvPr/>
        </p:nvSpPr>
        <p:spPr>
          <a:xfrm>
            <a:off x="202841" y="3925313"/>
            <a:ext cx="444762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000" dirty="0">
                <a:solidFill>
                  <a:schemeClr val="accent1">
                    <a:lumMod val="50000"/>
                  </a:schemeClr>
                </a:solidFill>
              </a:rPr>
              <a:t>(Wert-)Zuweisungen</a:t>
            </a:r>
          </a:p>
        </p:txBody>
      </p: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8F02C098-9AB0-5B2A-2072-D2D5E9496B8F}"/>
              </a:ext>
            </a:extLst>
          </p:cNvPr>
          <p:cNvSpPr/>
          <p:nvPr/>
        </p:nvSpPr>
        <p:spPr>
          <a:xfrm>
            <a:off x="5545394" y="2695614"/>
            <a:ext cx="5525729" cy="3390554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01E03C32-9298-6438-711D-E8737F40188D}"/>
              </a:ext>
            </a:extLst>
          </p:cNvPr>
          <p:cNvSpPr txBox="1"/>
          <p:nvPr/>
        </p:nvSpPr>
        <p:spPr>
          <a:xfrm>
            <a:off x="5745422" y="2825384"/>
            <a:ext cx="387798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0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Beispielname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8E8A5519-D0A6-71DA-A5F1-0B7A3B647210}"/>
              </a:ext>
            </a:extLst>
          </p:cNvPr>
          <p:cNvSpPr txBox="1"/>
          <p:nvPr/>
        </p:nvSpPr>
        <p:spPr>
          <a:xfrm>
            <a:off x="5745422" y="3533270"/>
            <a:ext cx="326243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00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attribut1;</a:t>
            </a:r>
          </a:p>
          <a:p>
            <a:r>
              <a:rPr lang="de-DE" sz="400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attribut2;</a:t>
            </a:r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75003F15-8275-747D-11DC-AD101F595A13}"/>
              </a:ext>
            </a:extLst>
          </p:cNvPr>
          <p:cNvCxnSpPr/>
          <p:nvPr/>
        </p:nvCxnSpPr>
        <p:spPr>
          <a:xfrm>
            <a:off x="5545394" y="3429000"/>
            <a:ext cx="5525729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5314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/>
      <p:bldP spid="10" grpId="0"/>
      <p:bldP spid="12" grpId="0"/>
      <p:bldP spid="4" grpId="0" animBg="1"/>
      <p:bldP spid="15" grpId="0"/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06CF7-A5B1-641A-019F-49645B617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E3557DDE-F544-BD8B-48C9-B678AB775B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09600"/>
          </a:xfrm>
          <a:prstGeom prst="rect">
            <a:avLst/>
          </a:prstGeom>
          <a:solidFill>
            <a:srgbClr val="3366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04EA4F39-29AE-89A3-74FE-A3501C048BA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03200" y="152400"/>
            <a:ext cx="7315200" cy="304800"/>
          </a:xfrm>
        </p:spPr>
        <p:txBody>
          <a:bodyPr/>
          <a:lstStyle/>
          <a:p>
            <a:pPr algn="l" eaLnBrk="1" hangingPunct="1"/>
            <a:r>
              <a:rPr lang="de-DE" altLang="de-DE" sz="2667" dirty="0">
                <a:solidFill>
                  <a:schemeClr val="bg1"/>
                </a:solidFill>
                <a:latin typeface="Arial" charset="0"/>
              </a:rPr>
              <a:t>Wiederholung: Objektkarte</a:t>
            </a:r>
          </a:p>
        </p:txBody>
      </p:sp>
      <p:sp>
        <p:nvSpPr>
          <p:cNvPr id="84996" name="Rectangle 4">
            <a:extLst>
              <a:ext uri="{FF2B5EF4-FFF2-40B4-BE49-F238E27FC236}">
                <a16:creationId xmlns:a16="http://schemas.microsoft.com/office/drawing/2014/main" id="{69222B31-7D81-BAE6-8E7D-6A45147DF3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067" y="-2651125"/>
            <a:ext cx="12192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7E1ADB75-FB01-93D2-0210-B53A4933346E}"/>
              </a:ext>
            </a:extLst>
          </p:cNvPr>
          <p:cNvSpPr txBox="1"/>
          <p:nvPr/>
        </p:nvSpPr>
        <p:spPr>
          <a:xfrm>
            <a:off x="599768" y="1061884"/>
            <a:ext cx="811953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000" dirty="0"/>
              <a:t>Zeichne eine beispielhafte Objektkarte</a:t>
            </a:r>
          </a:p>
        </p:txBody>
      </p: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4CFD3688-5137-53F4-1777-51ECADCD3CC6}"/>
              </a:ext>
            </a:extLst>
          </p:cNvPr>
          <p:cNvSpPr/>
          <p:nvPr/>
        </p:nvSpPr>
        <p:spPr>
          <a:xfrm>
            <a:off x="5545394" y="2695614"/>
            <a:ext cx="5525729" cy="3390554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ED008C5A-4EBC-9CF3-A104-442DED8012EC}"/>
              </a:ext>
            </a:extLst>
          </p:cNvPr>
          <p:cNvSpPr txBox="1"/>
          <p:nvPr/>
        </p:nvSpPr>
        <p:spPr>
          <a:xfrm>
            <a:off x="5745422" y="2825384"/>
            <a:ext cx="387798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0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Beispielname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D0375642-202A-DF95-30C9-423BED101A3C}"/>
              </a:ext>
            </a:extLst>
          </p:cNvPr>
          <p:cNvSpPr txBox="1"/>
          <p:nvPr/>
        </p:nvSpPr>
        <p:spPr>
          <a:xfrm>
            <a:off x="5745422" y="3533270"/>
            <a:ext cx="326243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00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attribut1;</a:t>
            </a:r>
          </a:p>
          <a:p>
            <a:r>
              <a:rPr lang="de-DE" sz="400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attribut2;</a:t>
            </a:r>
          </a:p>
        </p:txBody>
      </p:sp>
      <p:cxnSp>
        <p:nvCxnSpPr>
          <p:cNvPr id="3" name="Gerader Verbinder 2">
            <a:extLst>
              <a:ext uri="{FF2B5EF4-FFF2-40B4-BE49-F238E27FC236}">
                <a16:creationId xmlns:a16="http://schemas.microsoft.com/office/drawing/2014/main" id="{A36CB3B5-D431-6F7B-6C37-D5C8F8252116}"/>
              </a:ext>
            </a:extLst>
          </p:cNvPr>
          <p:cNvCxnSpPr/>
          <p:nvPr/>
        </p:nvCxnSpPr>
        <p:spPr>
          <a:xfrm>
            <a:off x="5545394" y="3429000"/>
            <a:ext cx="5525729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47803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3C9FA-2215-5025-A0B8-163151F6E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8325A542-0EE4-F180-0490-69702888EF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09600"/>
          </a:xfrm>
          <a:prstGeom prst="rect">
            <a:avLst/>
          </a:prstGeom>
          <a:solidFill>
            <a:srgbClr val="3366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18EC13E9-FFB1-439A-394F-87870D15D07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03200" y="152400"/>
            <a:ext cx="7315200" cy="304800"/>
          </a:xfrm>
        </p:spPr>
        <p:txBody>
          <a:bodyPr/>
          <a:lstStyle/>
          <a:p>
            <a:pPr algn="l" eaLnBrk="1" hangingPunct="1"/>
            <a:r>
              <a:rPr lang="de-DE" altLang="de-DE" sz="2667" dirty="0">
                <a:solidFill>
                  <a:schemeClr val="bg1"/>
                </a:solidFill>
                <a:latin typeface="Arial" charset="0"/>
              </a:rPr>
              <a:t>Attribute</a:t>
            </a:r>
          </a:p>
        </p:txBody>
      </p:sp>
      <p:sp>
        <p:nvSpPr>
          <p:cNvPr id="84996" name="Rectangle 4">
            <a:extLst>
              <a:ext uri="{FF2B5EF4-FFF2-40B4-BE49-F238E27FC236}">
                <a16:creationId xmlns:a16="http://schemas.microsoft.com/office/drawing/2014/main" id="{66650CCF-8000-BEA6-A5D8-E37C975AB7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067" y="-2651125"/>
            <a:ext cx="12192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A2C36ACA-7E8D-CDFC-EE28-9C04210241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9550" y="609600"/>
            <a:ext cx="7315200" cy="6013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6912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53BDB8-F703-43BC-29F0-FB7F7B8C1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34EB6E8A-7B1A-FB46-2F6B-0CF7AD3078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09600"/>
          </a:xfrm>
          <a:prstGeom prst="rect">
            <a:avLst/>
          </a:prstGeom>
          <a:solidFill>
            <a:srgbClr val="3366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A801A1DF-2763-83A1-9EDD-7FD46DE4163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03200" y="152400"/>
            <a:ext cx="7315200" cy="304800"/>
          </a:xfrm>
        </p:spPr>
        <p:txBody>
          <a:bodyPr/>
          <a:lstStyle/>
          <a:p>
            <a:pPr algn="l" eaLnBrk="1" hangingPunct="1"/>
            <a:r>
              <a:rPr lang="de-DE" altLang="de-DE" sz="2667" dirty="0">
                <a:solidFill>
                  <a:schemeClr val="bg1"/>
                </a:solidFill>
                <a:latin typeface="Arial" charset="0"/>
              </a:rPr>
              <a:t>Methodensignatur</a:t>
            </a:r>
          </a:p>
        </p:txBody>
      </p:sp>
      <p:sp>
        <p:nvSpPr>
          <p:cNvPr id="84996" name="Rectangle 4">
            <a:extLst>
              <a:ext uri="{FF2B5EF4-FFF2-40B4-BE49-F238E27FC236}">
                <a16:creationId xmlns:a16="http://schemas.microsoft.com/office/drawing/2014/main" id="{FBD0C107-F820-50A6-A102-2CFAA55152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067" y="-2651125"/>
            <a:ext cx="12192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93D93E28-8553-D097-5367-86E891D24B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887" y="905432"/>
            <a:ext cx="10328095" cy="5659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6655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4BAAEC-FBB4-7B87-F210-C00E9ABC0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30EF1408-542A-02FE-A64F-9002C1D7E2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09600"/>
          </a:xfrm>
          <a:prstGeom prst="rect">
            <a:avLst/>
          </a:prstGeom>
          <a:solidFill>
            <a:srgbClr val="3366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99A56A64-C733-55E7-6D80-55222C1FDCA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03200" y="152400"/>
            <a:ext cx="7315200" cy="304800"/>
          </a:xfrm>
        </p:spPr>
        <p:txBody>
          <a:bodyPr/>
          <a:lstStyle/>
          <a:p>
            <a:pPr algn="l" eaLnBrk="1" hangingPunct="1"/>
            <a:r>
              <a:rPr lang="de-DE" altLang="de-DE" sz="2667" dirty="0">
                <a:solidFill>
                  <a:schemeClr val="bg1"/>
                </a:solidFill>
                <a:latin typeface="Arial" charset="0"/>
              </a:rPr>
              <a:t>Methodensignatur</a:t>
            </a:r>
          </a:p>
        </p:txBody>
      </p:sp>
      <p:sp>
        <p:nvSpPr>
          <p:cNvPr id="84996" name="Rectangle 4">
            <a:extLst>
              <a:ext uri="{FF2B5EF4-FFF2-40B4-BE49-F238E27FC236}">
                <a16:creationId xmlns:a16="http://schemas.microsoft.com/office/drawing/2014/main" id="{E1835F0E-94FB-4E48-EE64-928831369E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067" y="-2651125"/>
            <a:ext cx="12192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A365FA1E-9060-69F3-C2AC-634C46A219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0018" y="1091287"/>
            <a:ext cx="11131964" cy="467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7838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12EAD-475A-F8CF-1126-7BCC37A6D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6" name="Rectangle 4">
            <a:extLst>
              <a:ext uri="{FF2B5EF4-FFF2-40B4-BE49-F238E27FC236}">
                <a16:creationId xmlns:a16="http://schemas.microsoft.com/office/drawing/2014/main" id="{F3747A03-B91F-9304-5B40-CFF15CB793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067" y="-2651125"/>
            <a:ext cx="12192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4AEE9ABC-A442-5366-D036-38EFE9E04C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0393" y="36018"/>
            <a:ext cx="5007625" cy="6821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6315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DA13A-D809-7295-533C-894C785CE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CBC14DC9-66D9-E28C-ED8C-4B92F451AE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09600"/>
          </a:xfrm>
          <a:prstGeom prst="rect">
            <a:avLst/>
          </a:prstGeom>
          <a:solidFill>
            <a:srgbClr val="3366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9650CB1F-720E-9C55-1367-31C8F1A9CCF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03200" y="152400"/>
            <a:ext cx="7315200" cy="304800"/>
          </a:xfrm>
        </p:spPr>
        <p:txBody>
          <a:bodyPr/>
          <a:lstStyle/>
          <a:p>
            <a:pPr algn="l" eaLnBrk="1" hangingPunct="1"/>
            <a:r>
              <a:rPr lang="de-DE" altLang="de-DE" sz="2667" dirty="0">
                <a:solidFill>
                  <a:schemeClr val="bg1"/>
                </a:solidFill>
                <a:latin typeface="Arial" charset="0"/>
              </a:rPr>
              <a:t>AB3</a:t>
            </a:r>
          </a:p>
        </p:txBody>
      </p:sp>
      <p:sp>
        <p:nvSpPr>
          <p:cNvPr id="84996" name="Rectangle 4">
            <a:extLst>
              <a:ext uri="{FF2B5EF4-FFF2-40B4-BE49-F238E27FC236}">
                <a16:creationId xmlns:a16="http://schemas.microsoft.com/office/drawing/2014/main" id="{CAF40CDD-B2CD-5568-0724-773F74BF83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067" y="-2651125"/>
            <a:ext cx="12192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EBE48557-465D-36B4-6050-C01FC646FD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483" y="0"/>
            <a:ext cx="7315199" cy="6873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8975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46C93A-BE91-9FCC-B776-EDF38D468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6ADB65BC-E9E9-D649-F33C-92AE8E8BA5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09600"/>
          </a:xfrm>
          <a:prstGeom prst="rect">
            <a:avLst/>
          </a:prstGeom>
          <a:solidFill>
            <a:srgbClr val="3366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48C239FE-B6D2-8838-C3A5-1B2956C3303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03200" y="152400"/>
            <a:ext cx="7315200" cy="304800"/>
          </a:xfrm>
        </p:spPr>
        <p:txBody>
          <a:bodyPr/>
          <a:lstStyle/>
          <a:p>
            <a:pPr algn="l" eaLnBrk="1" hangingPunct="1"/>
            <a:r>
              <a:rPr lang="de-DE" altLang="de-DE" sz="2667" dirty="0">
                <a:solidFill>
                  <a:schemeClr val="bg1"/>
                </a:solidFill>
                <a:latin typeface="Arial" charset="0"/>
              </a:rPr>
              <a:t>AB3</a:t>
            </a:r>
          </a:p>
        </p:txBody>
      </p:sp>
      <p:sp>
        <p:nvSpPr>
          <p:cNvPr id="84996" name="Rectangle 4">
            <a:extLst>
              <a:ext uri="{FF2B5EF4-FFF2-40B4-BE49-F238E27FC236}">
                <a16:creationId xmlns:a16="http://schemas.microsoft.com/office/drawing/2014/main" id="{8F5AA8F7-64C9-40F1-8FDF-2A4EC3B062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067" y="-2651125"/>
            <a:ext cx="12192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F0753D99-9633-FFC9-8B09-75CA0E3EC7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120" y="921026"/>
            <a:ext cx="10349599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7885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F616C-A53A-BA65-E708-B8A001D10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720A1095-878D-8C91-4C69-362C70E4EF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09600"/>
          </a:xfrm>
          <a:prstGeom prst="rect">
            <a:avLst/>
          </a:prstGeom>
          <a:solidFill>
            <a:srgbClr val="3366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FE4E1F95-1F06-6ADB-8A98-35E391CF77F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03200" y="152400"/>
            <a:ext cx="7315200" cy="304800"/>
          </a:xfrm>
        </p:spPr>
        <p:txBody>
          <a:bodyPr/>
          <a:lstStyle/>
          <a:p>
            <a:pPr algn="l" eaLnBrk="1" hangingPunct="1"/>
            <a:r>
              <a:rPr lang="de-DE" altLang="de-DE" sz="2667" dirty="0">
                <a:solidFill>
                  <a:schemeClr val="bg1"/>
                </a:solidFill>
                <a:latin typeface="Arial" charset="0"/>
              </a:rPr>
              <a:t>Struktogramme</a:t>
            </a:r>
          </a:p>
        </p:txBody>
      </p:sp>
      <p:sp>
        <p:nvSpPr>
          <p:cNvPr id="84996" name="Rectangle 4">
            <a:extLst>
              <a:ext uri="{FF2B5EF4-FFF2-40B4-BE49-F238E27FC236}">
                <a16:creationId xmlns:a16="http://schemas.microsoft.com/office/drawing/2014/main" id="{2F0A4565-F887-896A-6C54-B7CE303944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067" y="-2651125"/>
            <a:ext cx="12192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AA7CBD57-97D2-91AD-F756-7FD8AA9E58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4456" y="4456004"/>
            <a:ext cx="6036418" cy="2249596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58F04B94-0416-A1E6-DBD7-3710149BFBC8}"/>
              </a:ext>
            </a:extLst>
          </p:cNvPr>
          <p:cNvSpPr txBox="1"/>
          <p:nvPr/>
        </p:nvSpPr>
        <p:spPr>
          <a:xfrm>
            <a:off x="344971" y="762000"/>
            <a:ext cx="10885832" cy="3244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de-DE" sz="28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Ein </a:t>
            </a:r>
            <a:r>
              <a:rPr lang="de-DE" sz="2800" b="1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Struktogramm</a:t>
            </a:r>
            <a:r>
              <a:rPr lang="de-DE" sz="28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ist eine </a:t>
            </a:r>
            <a:r>
              <a:rPr lang="de-DE" sz="2800" b="1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grafische Darstellung</a:t>
            </a:r>
            <a:r>
              <a:rPr lang="de-DE" sz="28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die zeigt, wie ein Programm oder ein Algorithmus aufgebaut ist.</a:t>
            </a:r>
            <a:r>
              <a:rPr lang="de-DE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8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Es wird oft verwendet, um zu verdeutlichen, wie ein Programm Schritt für Schritt funktioniert. Darin können </a:t>
            </a:r>
            <a:r>
              <a:rPr lang="de-DE" sz="2800" b="1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einfache Anweisungen, Wiederholungen und Entscheidungen</a:t>
            </a:r>
            <a:r>
              <a:rPr lang="de-DE" sz="28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800" b="1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modelliert</a:t>
            </a:r>
            <a:r>
              <a:rPr lang="de-DE" sz="28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werden.</a:t>
            </a:r>
            <a:r>
              <a:rPr lang="de-DE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78195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tandarddesign">
  <a:themeElements>
    <a:clrScheme name="Standard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Standard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tandard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146</Words>
  <Application>Microsoft Office PowerPoint</Application>
  <PresentationFormat>Breitbild</PresentationFormat>
  <Paragraphs>42</Paragraphs>
  <Slides>11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11</vt:i4>
      </vt:variant>
    </vt:vector>
  </HeadingPairs>
  <TitlesOfParts>
    <vt:vector size="16" baseType="lpstr">
      <vt:lpstr>Aptos</vt:lpstr>
      <vt:lpstr>Arial</vt:lpstr>
      <vt:lpstr>Courier New</vt:lpstr>
      <vt:lpstr>Times New Roman</vt:lpstr>
      <vt:lpstr>Standarddesign</vt:lpstr>
      <vt:lpstr>Wiederholung: Klassenkarte</vt:lpstr>
      <vt:lpstr>Wiederholung: Klassenkarte</vt:lpstr>
      <vt:lpstr>Wiederholung: Objektkarte</vt:lpstr>
      <vt:lpstr>Wiederholung: Objektkarte</vt:lpstr>
      <vt:lpstr>Attribute</vt:lpstr>
      <vt:lpstr>Methodensignatur</vt:lpstr>
      <vt:lpstr>Methodensignatur</vt:lpstr>
      <vt:lpstr>PowerPoint-Präsentation</vt:lpstr>
      <vt:lpstr>AB3</vt:lpstr>
      <vt:lpstr>AB3</vt:lpstr>
      <vt:lpstr>Struktogramme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Florian Franke</dc:creator>
  <cp:lastModifiedBy>Florian Franke</cp:lastModifiedBy>
  <cp:revision>240</cp:revision>
  <dcterms:created xsi:type="dcterms:W3CDTF">2024-12-17T13:39:15Z</dcterms:created>
  <dcterms:modified xsi:type="dcterms:W3CDTF">2026-06-24T21:42:48Z</dcterms:modified>
</cp:coreProperties>
</file>