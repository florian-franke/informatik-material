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391" r:id="rId2"/>
    <p:sldId id="413" r:id="rId3"/>
    <p:sldId id="404" r:id="rId4"/>
    <p:sldId id="412" r:id="rId5"/>
    <p:sldId id="410" r:id="rId6"/>
    <p:sldId id="415" r:id="rId7"/>
    <p:sldId id="414" r:id="rId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125" autoAdjust="0"/>
  </p:normalViewPr>
  <p:slideViewPr>
    <p:cSldViewPr snapToGrid="0">
      <p:cViewPr varScale="1">
        <p:scale>
          <a:sx n="70" d="100"/>
          <a:sy n="70" d="100"/>
        </p:scale>
        <p:origin x="536" y="6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14FC7C-4090-4DE3-B7A6-823389B1DB10}" type="datetimeFigureOut">
              <a:rPr lang="de-DE" smtClean="0"/>
              <a:t>27.06.2026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0C4371-8A94-497C-981A-5985C1B3E19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34395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914400" y="2130429"/>
            <a:ext cx="10363200" cy="1470025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609585" indent="0" algn="ctr">
              <a:buNone/>
              <a:defRPr/>
            </a:lvl2pPr>
            <a:lvl3pPr marL="1219170" indent="0" algn="ctr">
              <a:buNone/>
              <a:defRPr/>
            </a:lvl3pPr>
            <a:lvl4pPr marL="1828754" indent="0" algn="ctr">
              <a:buNone/>
              <a:defRPr/>
            </a:lvl4pPr>
            <a:lvl5pPr marL="2438339" indent="0" algn="ctr">
              <a:buNone/>
              <a:defRPr/>
            </a:lvl5pPr>
            <a:lvl6pPr marL="3047924" indent="0" algn="ctr">
              <a:buNone/>
              <a:defRPr/>
            </a:lvl6pPr>
            <a:lvl7pPr marL="3657509" indent="0" algn="ctr">
              <a:buNone/>
              <a:defRPr/>
            </a:lvl7pPr>
            <a:lvl8pPr marL="4267093" indent="0" algn="ctr">
              <a:buNone/>
              <a:defRPr/>
            </a:lvl8pPr>
            <a:lvl9pPr marL="4876678" indent="0" algn="ctr">
              <a:buNone/>
              <a:defRPr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69D955-DF9D-41CC-8346-A66ABF961EC2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9671013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13D6CF-C951-4233-8C05-FC2B7D27C8E5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491190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/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96D5AE-7254-4A0E-BF27-8ACCF86131F7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340038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92D9C1-8307-48E2-95E3-5C299A4B6B87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41906697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93374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93374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A21E99-019C-4610-8E89-15627F058E74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8971406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DCD810-417C-4FC0-911C-8A532555A5F3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367788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6F58B3-F613-4188-ABD5-75C2EFD60343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02602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09607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766733" y="273054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609607" y="1435104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CF907C-0B38-4B04-B99A-47828357F1EA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7508391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endParaRPr lang="de-DE" noProof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2389717" y="5367341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CB12EC-29C9-4953-96D2-AC1247C0411B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597380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2B2177-6598-49A4-A093-FCDB8A1488ED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579142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F8BC58-F9EE-4EF4-8BA7-73D1623D7F6A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87831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99FF"/>
            </a:gs>
            <a:gs pos="100000">
              <a:srgbClr val="C9E9FF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Klicken Sie, um das Titelformat zu bearbeiten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Klicken Sie, um die Formate des Vorlagentextes zu bearbeiten</a:t>
            </a:r>
          </a:p>
          <a:p>
            <a:pPr lvl="1"/>
            <a:r>
              <a:rPr lang="de-DE" altLang="de-DE"/>
              <a:t>Zweite Ebene</a:t>
            </a:r>
          </a:p>
          <a:p>
            <a:pPr lvl="2"/>
            <a:r>
              <a:rPr lang="de-DE" altLang="de-DE"/>
              <a:t>Dritte Ebene</a:t>
            </a:r>
          </a:p>
          <a:p>
            <a:pPr lvl="3"/>
            <a:r>
              <a:rPr lang="de-DE" altLang="de-DE"/>
              <a:t>Vierte Ebene</a:t>
            </a:r>
          </a:p>
          <a:p>
            <a:pPr lvl="4"/>
            <a:r>
              <a:rPr lang="de-DE" altLang="de-DE"/>
              <a:t>Fünfte Ebene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867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867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867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fld id="{9CF637A9-2672-485D-BB5A-0633926A8C3A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696063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5pPr>
      <a:lvl6pPr marL="609585" algn="ctr" rtl="0" fontAlgn="base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6pPr>
      <a:lvl7pPr marL="1219170" algn="ctr" rtl="0" fontAlgn="base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7pPr>
      <a:lvl8pPr marL="1828754" algn="ctr" rtl="0" fontAlgn="base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8pPr>
      <a:lvl9pPr marL="2438339" algn="ctr" rtl="0" fontAlgn="base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9pPr>
    </p:titleStyle>
    <p:bodyStyle>
      <a:lvl1pPr marL="457189" indent="-457189" algn="l" rtl="0" eaLnBrk="0" fontAlgn="base" hangingPunct="0">
        <a:spcBef>
          <a:spcPct val="20000"/>
        </a:spcBef>
        <a:spcAft>
          <a:spcPct val="0"/>
        </a:spcAft>
        <a:buChar char="•"/>
        <a:defRPr sz="4267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rtl="0" eaLnBrk="0" fontAlgn="base" hangingPunct="0">
        <a:spcBef>
          <a:spcPct val="20000"/>
        </a:spcBef>
        <a:spcAft>
          <a:spcPct val="0"/>
        </a:spcAft>
        <a:buChar char="–"/>
        <a:defRPr sz="3733">
          <a:solidFill>
            <a:schemeClr val="tx1"/>
          </a:solidFill>
          <a:latin typeface="+mn-lt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Char char="–"/>
        <a:defRPr sz="2667">
          <a:solidFill>
            <a:schemeClr val="tx1"/>
          </a:solidFill>
          <a:latin typeface="+mn-lt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5pPr>
      <a:lvl6pPr marL="3352716" indent="-304792" algn="l" rtl="0" fontAlgn="base">
        <a:spcBef>
          <a:spcPct val="2000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6pPr>
      <a:lvl7pPr marL="3962301" indent="-304792" algn="l" rtl="0" fontAlgn="base">
        <a:spcBef>
          <a:spcPct val="2000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7pPr>
      <a:lvl8pPr marL="4571886" indent="-304792" algn="l" rtl="0" fontAlgn="base">
        <a:spcBef>
          <a:spcPct val="2000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8pPr>
      <a:lvl9pPr marL="5181470" indent="-304792" algn="l" rtl="0" fontAlgn="base">
        <a:spcBef>
          <a:spcPct val="2000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7CD1C-D215-80A6-C20B-F83C4579B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E4C9478-9ADC-FA47-A9DB-A20E58CEF6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09600"/>
          </a:xfrm>
          <a:prstGeom prst="rect">
            <a:avLst/>
          </a:prstGeom>
          <a:solidFill>
            <a:srgbClr val="3366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marL="0" marR="0" lvl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altLang="de-DE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+mn-ea"/>
                <a:cs typeface="Arial" charset="0"/>
              </a:rPr>
              <a:t>Bedingte Anweisungen - Stationenarbeit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0E512EED-6CE6-E7D9-61AC-AB89C04301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5678" y="160464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pic>
        <p:nvPicPr>
          <p:cNvPr id="30" name="Grafik 29" descr="Stoppuhr mit einfarbiger Füllung">
            <a:extLst>
              <a:ext uri="{FF2B5EF4-FFF2-40B4-BE49-F238E27FC236}">
                <a16:creationId xmlns:a16="http://schemas.microsoft.com/office/drawing/2014/main" id="{B4345D51-CB2E-0FA8-D53E-F0D6FD182E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9413" y="767660"/>
            <a:ext cx="1452153" cy="1452153"/>
          </a:xfrm>
          <a:prstGeom prst="rect">
            <a:avLst/>
          </a:prstGeom>
        </p:spPr>
      </p:pic>
      <p:sp>
        <p:nvSpPr>
          <p:cNvPr id="31" name="Textfeld 30">
            <a:extLst>
              <a:ext uri="{FF2B5EF4-FFF2-40B4-BE49-F238E27FC236}">
                <a16:creationId xmlns:a16="http://schemas.microsoft.com/office/drawing/2014/main" id="{9AFF06D8-09E7-DEB4-289D-481CC2E6CBFC}"/>
              </a:ext>
            </a:extLst>
          </p:cNvPr>
          <p:cNvSpPr txBox="1"/>
          <p:nvPr/>
        </p:nvSpPr>
        <p:spPr>
          <a:xfrm>
            <a:off x="472816" y="2093407"/>
            <a:ext cx="40613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5 Minuten pro Station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386EC45D-E0E7-235E-0B7D-087482CF03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3312" y="-110164"/>
            <a:ext cx="4957423" cy="7724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864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DF889-9E0B-B29A-262B-98D5B4ECD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A7EFF344-F4CC-2201-FD23-B938F09363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09600"/>
          </a:xfrm>
          <a:prstGeom prst="rect">
            <a:avLst/>
          </a:prstGeom>
          <a:solidFill>
            <a:srgbClr val="3366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89E38015-0DB4-166D-5067-7C09B8ABF05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03200" y="152400"/>
            <a:ext cx="7315200" cy="304800"/>
          </a:xfrm>
        </p:spPr>
        <p:txBody>
          <a:bodyPr/>
          <a:lstStyle/>
          <a:p>
            <a:pPr algn="l" eaLnBrk="1" hangingPunct="1"/>
            <a:r>
              <a:rPr lang="de-DE" altLang="de-DE" sz="2667" dirty="0">
                <a:solidFill>
                  <a:schemeClr val="bg1"/>
                </a:solidFill>
                <a:latin typeface="Arial" charset="0"/>
              </a:rPr>
              <a:t>Wiederholung: bedingte Wiederholung</a:t>
            </a:r>
          </a:p>
        </p:txBody>
      </p:sp>
      <p:sp>
        <p:nvSpPr>
          <p:cNvPr id="84996" name="Rectangle 4">
            <a:extLst>
              <a:ext uri="{FF2B5EF4-FFF2-40B4-BE49-F238E27FC236}">
                <a16:creationId xmlns:a16="http://schemas.microsoft.com/office/drawing/2014/main" id="{6FE2C32A-BDEB-7172-4E3C-323A12D67B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067" y="-2651125"/>
            <a:ext cx="12192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01ABAAB6-C438-340C-97B7-3A77843A2D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026" y="1464037"/>
            <a:ext cx="6995709" cy="1809515"/>
          </a:xfrm>
          <a:prstGeom prst="rect">
            <a:avLst/>
          </a:prstGeom>
        </p:spPr>
      </p:pic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D2103685-A654-988E-EC3D-D4C3B4ED74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1120746"/>
              </p:ext>
            </p:extLst>
          </p:nvPr>
        </p:nvGraphicFramePr>
        <p:xfrm>
          <a:off x="5303519" y="3694177"/>
          <a:ext cx="6143087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9662">
                  <a:extLst>
                    <a:ext uri="{9D8B030D-6E8A-4147-A177-3AD203B41FA5}">
                      <a16:colId xmlns:a16="http://schemas.microsoft.com/office/drawing/2014/main" val="1240796010"/>
                    </a:ext>
                  </a:extLst>
                </a:gridCol>
                <a:gridCol w="5223425">
                  <a:extLst>
                    <a:ext uri="{9D8B030D-6E8A-4147-A177-3AD203B41FA5}">
                      <a16:colId xmlns:a16="http://schemas.microsoft.com/office/drawing/2014/main" val="3565145145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r>
                        <a:rPr lang="de-DE" dirty="0" err="1">
                          <a:solidFill>
                            <a:sysClr val="windowText" lastClr="000000"/>
                          </a:solidFill>
                        </a:rPr>
                        <a:t>while</a:t>
                      </a:r>
                      <a:r>
                        <a:rPr lang="de-DE" dirty="0">
                          <a:solidFill>
                            <a:sysClr val="windowText" lastClr="000000"/>
                          </a:solidFill>
                        </a:rPr>
                        <a:t> (Bedingung)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5044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  <a:p>
                      <a:r>
                        <a:rPr lang="de-DE" dirty="0"/>
                        <a:t>anweisung1();</a:t>
                      </a:r>
                    </a:p>
                    <a:p>
                      <a:r>
                        <a:rPr lang="de-DE" dirty="0"/>
                        <a:t>anweisung2();</a:t>
                      </a:r>
                    </a:p>
                    <a:p>
                      <a:endParaRPr lang="de-DE" dirty="0"/>
                    </a:p>
                    <a:p>
                      <a:endParaRPr lang="de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1704671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r>
                        <a:rPr lang="de-DE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5605091"/>
                  </a:ext>
                </a:extLst>
              </a:tr>
            </a:tbl>
          </a:graphicData>
        </a:graphic>
      </p:graphicFrame>
      <p:sp>
        <p:nvSpPr>
          <p:cNvPr id="5" name="Ellipse 4">
            <a:extLst>
              <a:ext uri="{FF2B5EF4-FFF2-40B4-BE49-F238E27FC236}">
                <a16:creationId xmlns:a16="http://schemas.microsoft.com/office/drawing/2014/main" id="{704061DE-3004-89EA-19D5-E1518204CFCF}"/>
              </a:ext>
            </a:extLst>
          </p:cNvPr>
          <p:cNvSpPr/>
          <p:nvPr/>
        </p:nvSpPr>
        <p:spPr>
          <a:xfrm>
            <a:off x="1554480" y="1170432"/>
            <a:ext cx="5212080" cy="1115568"/>
          </a:xfrm>
          <a:prstGeom prst="ellipse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F181EB3B-A52F-990F-A9F8-98E111F05E94}"/>
              </a:ext>
            </a:extLst>
          </p:cNvPr>
          <p:cNvSpPr/>
          <p:nvPr/>
        </p:nvSpPr>
        <p:spPr>
          <a:xfrm>
            <a:off x="4736592" y="3478765"/>
            <a:ext cx="3855720" cy="786384"/>
          </a:xfrm>
          <a:prstGeom prst="ellipse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556353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D3140F-7D39-6AED-EB9A-0CBD71578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6E5865D9-C778-5436-4A58-18388BB7B5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09600"/>
          </a:xfrm>
          <a:prstGeom prst="rect">
            <a:avLst/>
          </a:prstGeom>
          <a:solidFill>
            <a:srgbClr val="3366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28BABDBD-B145-4CCD-3814-7D3EECEE6A3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03200" y="152400"/>
            <a:ext cx="7315200" cy="304800"/>
          </a:xfrm>
        </p:spPr>
        <p:txBody>
          <a:bodyPr/>
          <a:lstStyle/>
          <a:p>
            <a:pPr algn="l" eaLnBrk="1" hangingPunct="1"/>
            <a:r>
              <a:rPr lang="de-DE" altLang="de-DE" sz="2667" dirty="0">
                <a:solidFill>
                  <a:schemeClr val="bg1"/>
                </a:solidFill>
                <a:latin typeface="Arial" charset="0"/>
              </a:rPr>
              <a:t>Wiederholung: Struktogramm – zwei Szenarien</a:t>
            </a:r>
          </a:p>
        </p:txBody>
      </p:sp>
      <p:sp>
        <p:nvSpPr>
          <p:cNvPr id="84996" name="Rectangle 4">
            <a:extLst>
              <a:ext uri="{FF2B5EF4-FFF2-40B4-BE49-F238E27FC236}">
                <a16:creationId xmlns:a16="http://schemas.microsoft.com/office/drawing/2014/main" id="{5571FCE7-D43E-4AF3-EABD-C00EB5A7FE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067" y="-2651125"/>
            <a:ext cx="12192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59C0B422-AE69-AD20-0828-D1EE662978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423" y="4282026"/>
            <a:ext cx="4469969" cy="1862487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5D1E5E3A-A373-A308-FDA8-ADF9EA49BA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4395" y="4265418"/>
            <a:ext cx="4469968" cy="1879095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EBBF9F67-CF9A-54B3-AC52-E2D0A47301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4903" y="1049875"/>
            <a:ext cx="6103105" cy="2512322"/>
          </a:xfrm>
          <a:prstGeom prst="rect">
            <a:avLst/>
          </a:prstGeom>
        </p:spPr>
      </p:pic>
      <p:pic>
        <p:nvPicPr>
          <p:cNvPr id="21" name="Grafik 20" descr="Gehirn im Kopf Silhouette">
            <a:extLst>
              <a:ext uri="{FF2B5EF4-FFF2-40B4-BE49-F238E27FC236}">
                <a16:creationId xmlns:a16="http://schemas.microsoft.com/office/drawing/2014/main" id="{737AB700-1EC6-C289-8602-39A0442150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44309" y="718317"/>
            <a:ext cx="1540107" cy="1540107"/>
          </a:xfrm>
          <a:prstGeom prst="rect">
            <a:avLst/>
          </a:prstGeom>
        </p:spPr>
      </p:pic>
      <p:pic>
        <p:nvPicPr>
          <p:cNvPr id="23" name="Grafik 22" descr="Chat Silhouette">
            <a:extLst>
              <a:ext uri="{FF2B5EF4-FFF2-40B4-BE49-F238E27FC236}">
                <a16:creationId xmlns:a16="http://schemas.microsoft.com/office/drawing/2014/main" id="{F877ABB2-03F8-EE2E-6D99-E4AAE0C891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506456" y="2306036"/>
            <a:ext cx="1277960" cy="1277960"/>
          </a:xfrm>
          <a:prstGeom prst="rect">
            <a:avLst/>
          </a:prstGeom>
        </p:spPr>
      </p:pic>
      <p:sp>
        <p:nvSpPr>
          <p:cNvPr id="24" name="Ellipse 23">
            <a:extLst>
              <a:ext uri="{FF2B5EF4-FFF2-40B4-BE49-F238E27FC236}">
                <a16:creationId xmlns:a16="http://schemas.microsoft.com/office/drawing/2014/main" id="{F183538C-3BF8-8BDE-1EC0-830807850F00}"/>
              </a:ext>
            </a:extLst>
          </p:cNvPr>
          <p:cNvSpPr/>
          <p:nvPr/>
        </p:nvSpPr>
        <p:spPr>
          <a:xfrm>
            <a:off x="10085832" y="718317"/>
            <a:ext cx="301752" cy="331558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1</a:t>
            </a:r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23E5DA42-0674-0148-C416-08D3F0057BEE}"/>
              </a:ext>
            </a:extLst>
          </p:cNvPr>
          <p:cNvSpPr/>
          <p:nvPr/>
        </p:nvSpPr>
        <p:spPr>
          <a:xfrm>
            <a:off x="10094976" y="2344392"/>
            <a:ext cx="301752" cy="331558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6487139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B1D4A-0A74-9F2A-9898-D26B53758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8D8B0C96-DAC2-4589-B9A0-6AF6F53C35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09600"/>
          </a:xfrm>
          <a:prstGeom prst="rect">
            <a:avLst/>
          </a:prstGeom>
          <a:solidFill>
            <a:srgbClr val="3366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87D96337-F6B3-F179-3B94-69B9AFD61E4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03200" y="152400"/>
            <a:ext cx="7315200" cy="304800"/>
          </a:xfrm>
        </p:spPr>
        <p:txBody>
          <a:bodyPr/>
          <a:lstStyle/>
          <a:p>
            <a:pPr algn="l" eaLnBrk="1" hangingPunct="1"/>
            <a:r>
              <a:rPr lang="de-DE" altLang="de-DE" sz="2667" dirty="0">
                <a:solidFill>
                  <a:schemeClr val="bg1"/>
                </a:solidFill>
                <a:latin typeface="Arial" charset="0"/>
              </a:rPr>
              <a:t>AB 5 Aufgabe 2</a:t>
            </a:r>
          </a:p>
        </p:txBody>
      </p:sp>
      <p:sp>
        <p:nvSpPr>
          <p:cNvPr id="84996" name="Rectangle 4">
            <a:extLst>
              <a:ext uri="{FF2B5EF4-FFF2-40B4-BE49-F238E27FC236}">
                <a16:creationId xmlns:a16="http://schemas.microsoft.com/office/drawing/2014/main" id="{0A892EF5-FAF0-1398-E82C-F58E6E6D7A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067" y="-2651125"/>
            <a:ext cx="12192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7F75E0BF-AB52-3E9E-DE10-57356B7D564E}"/>
              </a:ext>
            </a:extLst>
          </p:cNvPr>
          <p:cNvSpPr txBox="1"/>
          <p:nvPr/>
        </p:nvSpPr>
        <p:spPr>
          <a:xfrm>
            <a:off x="617220" y="1508997"/>
            <a:ext cx="10565892" cy="2019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e-DE" sz="2800" b="1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Sobald fertig: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e-DE" sz="28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Beschreibe, was verändert werden muss, wenn im </a:t>
            </a:r>
            <a:r>
              <a:rPr lang="de-DE" sz="2800" dirty="0" err="1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if</a:t>
            </a:r>
            <a:r>
              <a:rPr lang="de-DE" sz="28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-Block nicht mehr </a:t>
            </a:r>
            <a:r>
              <a:rPr lang="de-DE" sz="2800" dirty="0" err="1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return</a:t>
            </a:r>
            <a:r>
              <a:rPr lang="de-DE" sz="28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800" dirty="0" err="1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true</a:t>
            </a:r>
            <a:r>
              <a:rPr lang="de-DE" sz="28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sondern </a:t>
            </a:r>
            <a:r>
              <a:rPr lang="de-DE" sz="2800" dirty="0" err="1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return</a:t>
            </a:r>
            <a:r>
              <a:rPr lang="de-DE" sz="28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800" dirty="0" err="1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false</a:t>
            </a:r>
            <a:r>
              <a:rPr lang="de-DE" sz="28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steht und im </a:t>
            </a:r>
            <a:r>
              <a:rPr lang="de-DE" sz="2800" dirty="0" err="1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else</a:t>
            </a:r>
            <a:r>
              <a:rPr lang="de-DE" sz="28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-Block entsprechend </a:t>
            </a:r>
            <a:r>
              <a:rPr lang="de-DE" sz="2800" dirty="0" err="1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return</a:t>
            </a:r>
            <a:r>
              <a:rPr lang="de-DE" sz="28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800" dirty="0" err="1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true</a:t>
            </a:r>
            <a:r>
              <a:rPr lang="de-DE" sz="28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de-DE" sz="24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53533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3C6C8-0C2E-1C5E-C25E-4F16247EF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7722584B-F74F-DA7F-77E1-5F1AAEA55A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09600"/>
          </a:xfrm>
          <a:prstGeom prst="rect">
            <a:avLst/>
          </a:prstGeom>
          <a:solidFill>
            <a:srgbClr val="3366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4D2C918D-956B-5DDE-D41F-03401E587C5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03200" y="152400"/>
            <a:ext cx="7315200" cy="304800"/>
          </a:xfrm>
        </p:spPr>
        <p:txBody>
          <a:bodyPr/>
          <a:lstStyle/>
          <a:p>
            <a:pPr algn="l" eaLnBrk="1" hangingPunct="1"/>
            <a:r>
              <a:rPr lang="de-DE" altLang="de-DE" sz="2667" dirty="0">
                <a:solidFill>
                  <a:schemeClr val="bg1"/>
                </a:solidFill>
                <a:latin typeface="Arial" charset="0"/>
              </a:rPr>
              <a:t>Programmierübung 5</a:t>
            </a:r>
          </a:p>
        </p:txBody>
      </p:sp>
      <p:sp>
        <p:nvSpPr>
          <p:cNvPr id="84996" name="Rectangle 4">
            <a:extLst>
              <a:ext uri="{FF2B5EF4-FFF2-40B4-BE49-F238E27FC236}">
                <a16:creationId xmlns:a16="http://schemas.microsoft.com/office/drawing/2014/main" id="{78258170-4CD5-1874-C687-452F71A2E3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067" y="-2651125"/>
            <a:ext cx="12192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3DAF3FA9-00B5-A69D-6B6F-55E32B6D0E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35328" y="0"/>
            <a:ext cx="6858000" cy="6858000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6E71F250-4C1F-91E4-A9BE-98579A2B4BF4}"/>
              </a:ext>
            </a:extLst>
          </p:cNvPr>
          <p:cNvSpPr txBox="1"/>
          <p:nvPr/>
        </p:nvSpPr>
        <p:spPr>
          <a:xfrm>
            <a:off x="200889" y="2414016"/>
            <a:ext cx="3946914" cy="21852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800" dirty="0"/>
              <a:t>Aufgabe 1-5</a:t>
            </a:r>
          </a:p>
          <a:p>
            <a:r>
              <a:rPr lang="de-DE" sz="4000" dirty="0"/>
              <a:t>Für die Schnellen:</a:t>
            </a:r>
            <a:endParaRPr lang="de-DE" sz="4800" dirty="0"/>
          </a:p>
          <a:p>
            <a:r>
              <a:rPr lang="de-DE" sz="4800" dirty="0"/>
              <a:t>Aufgabe 6-9</a:t>
            </a:r>
          </a:p>
        </p:txBody>
      </p:sp>
    </p:spTree>
    <p:extLst>
      <p:ext uri="{BB962C8B-B14F-4D97-AF65-F5344CB8AC3E}">
        <p14:creationId xmlns:p14="http://schemas.microsoft.com/office/powerpoint/2010/main" val="29413998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6F69E-4BD3-5F82-E970-3FF58D0E3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B5C8B4B4-7B50-88F3-ECE7-72B36E85D7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09600"/>
          </a:xfrm>
          <a:prstGeom prst="rect">
            <a:avLst/>
          </a:prstGeom>
          <a:solidFill>
            <a:srgbClr val="3366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41DFBD4C-0BD0-F0C3-FE8E-BEA47C9211F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03200" y="152400"/>
            <a:ext cx="7315200" cy="304800"/>
          </a:xfrm>
        </p:spPr>
        <p:txBody>
          <a:bodyPr/>
          <a:lstStyle/>
          <a:p>
            <a:pPr algn="l" eaLnBrk="1" hangingPunct="1"/>
            <a:r>
              <a:rPr lang="de-DE" altLang="de-DE" sz="2667" dirty="0">
                <a:solidFill>
                  <a:schemeClr val="bg1"/>
                </a:solidFill>
                <a:latin typeface="Arial" charset="0"/>
              </a:rPr>
              <a:t>AB 5 A1</a:t>
            </a:r>
          </a:p>
        </p:txBody>
      </p:sp>
      <p:sp>
        <p:nvSpPr>
          <p:cNvPr id="84996" name="Rectangle 4">
            <a:extLst>
              <a:ext uri="{FF2B5EF4-FFF2-40B4-BE49-F238E27FC236}">
                <a16:creationId xmlns:a16="http://schemas.microsoft.com/office/drawing/2014/main" id="{FC7034D9-0A17-6901-A725-1A54E394B2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067" y="-2651125"/>
            <a:ext cx="12192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CEA94847-FEBC-59A0-93EA-9695E957A4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79504" y="0"/>
            <a:ext cx="66972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8256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EF042-BD18-962F-5B72-42D349A8D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ED87C998-573D-596B-1E2E-FB9B93811F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09600"/>
          </a:xfrm>
          <a:prstGeom prst="rect">
            <a:avLst/>
          </a:prstGeom>
          <a:solidFill>
            <a:srgbClr val="3366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F085FD3E-D0D0-907C-A4F0-0C0941297BB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03200" y="152400"/>
            <a:ext cx="7315200" cy="304800"/>
          </a:xfrm>
        </p:spPr>
        <p:txBody>
          <a:bodyPr/>
          <a:lstStyle/>
          <a:p>
            <a:pPr algn="l" eaLnBrk="1" hangingPunct="1"/>
            <a:r>
              <a:rPr lang="de-DE" altLang="de-DE" sz="2667" dirty="0">
                <a:solidFill>
                  <a:schemeClr val="bg1"/>
                </a:solidFill>
                <a:latin typeface="Arial" charset="0"/>
              </a:rPr>
              <a:t>Programmierübung 5</a:t>
            </a:r>
          </a:p>
        </p:txBody>
      </p:sp>
      <p:sp>
        <p:nvSpPr>
          <p:cNvPr id="84996" name="Rectangle 4">
            <a:extLst>
              <a:ext uri="{FF2B5EF4-FFF2-40B4-BE49-F238E27FC236}">
                <a16:creationId xmlns:a16="http://schemas.microsoft.com/office/drawing/2014/main" id="{45B1D5A9-942F-A0C6-9C9F-DD849F3EFF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067" y="-2651125"/>
            <a:ext cx="12192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7DE1BBE9-55BE-B3A4-DF7C-1C7F663496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89400" y="1409780"/>
            <a:ext cx="6858000" cy="3398359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84286B5F-5B75-CE23-5FD8-770D0712BFA1}"/>
              </a:ext>
            </a:extLst>
          </p:cNvPr>
          <p:cNvSpPr txBox="1"/>
          <p:nvPr/>
        </p:nvSpPr>
        <p:spPr>
          <a:xfrm>
            <a:off x="200889" y="2414016"/>
            <a:ext cx="3869585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800" dirty="0"/>
              <a:t>Aufgabe 10</a:t>
            </a:r>
          </a:p>
          <a:p>
            <a:r>
              <a:rPr lang="de-DE" sz="4800" dirty="0"/>
              <a:t>Wenn fertig:</a:t>
            </a:r>
          </a:p>
          <a:p>
            <a:r>
              <a:rPr lang="de-DE" sz="4800" dirty="0"/>
              <a:t>Aufgabe 11-13</a:t>
            </a:r>
          </a:p>
        </p:txBody>
      </p:sp>
    </p:spTree>
    <p:extLst>
      <p:ext uri="{BB962C8B-B14F-4D97-AF65-F5344CB8AC3E}">
        <p14:creationId xmlns:p14="http://schemas.microsoft.com/office/powerpoint/2010/main" val="2017900438"/>
      </p:ext>
    </p:extLst>
  </p:cSld>
  <p:clrMapOvr>
    <a:masterClrMapping/>
  </p:clrMapOvr>
</p:sld>
</file>

<file path=ppt/theme/theme1.xml><?xml version="1.0" encoding="utf-8"?>
<a:theme xmlns:a="http://schemas.openxmlformats.org/drawingml/2006/main" name="Standarddesign">
  <a:themeElements>
    <a:clrScheme name="Standard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Standard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tandard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</Words>
  <Application>Microsoft Office PowerPoint</Application>
  <PresentationFormat>Breitbild</PresentationFormat>
  <Paragraphs>23</Paragraphs>
  <Slides>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1" baseType="lpstr">
      <vt:lpstr>Aptos</vt:lpstr>
      <vt:lpstr>Arial</vt:lpstr>
      <vt:lpstr>Times New Roman</vt:lpstr>
      <vt:lpstr>Standarddesign</vt:lpstr>
      <vt:lpstr>PowerPoint-Präsentation</vt:lpstr>
      <vt:lpstr>Wiederholung: bedingte Wiederholung</vt:lpstr>
      <vt:lpstr>Wiederholung: Struktogramm – zwei Szenarien</vt:lpstr>
      <vt:lpstr>AB 5 Aufgabe 2</vt:lpstr>
      <vt:lpstr>Programmierübung 5</vt:lpstr>
      <vt:lpstr>AB 5 A1</vt:lpstr>
      <vt:lpstr>Programmierübung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Florian Franke</dc:creator>
  <cp:lastModifiedBy>Florian Franke</cp:lastModifiedBy>
  <cp:revision>253</cp:revision>
  <dcterms:created xsi:type="dcterms:W3CDTF">2024-12-17T13:39:15Z</dcterms:created>
  <dcterms:modified xsi:type="dcterms:W3CDTF">2026-06-27T12:54:13Z</dcterms:modified>
</cp:coreProperties>
</file>