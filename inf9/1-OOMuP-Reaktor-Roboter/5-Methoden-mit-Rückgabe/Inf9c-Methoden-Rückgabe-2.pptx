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409" r:id="rId2"/>
    <p:sldId id="404" r:id="rId3"/>
    <p:sldId id="414" r:id="rId4"/>
    <p:sldId id="415" r:id="rId5"/>
    <p:sldId id="416" r:id="rId6"/>
    <p:sldId id="413" r:id="rId7"/>
    <p:sldId id="410" r:id="rId8"/>
    <p:sldId id="412" r:id="rId9"/>
    <p:sldId id="417" r:id="rId10"/>
    <p:sldId id="411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125" autoAdjust="0"/>
  </p:normalViewPr>
  <p:slideViewPr>
    <p:cSldViewPr snapToGrid="0">
      <p:cViewPr>
        <p:scale>
          <a:sx n="70" d="100"/>
          <a:sy n="70" d="100"/>
        </p:scale>
        <p:origin x="536" y="2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14FC7C-4090-4DE3-B7A6-823389B1DB10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C4371-8A94-497C-981A-5985C1B3E1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3439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9D955-DF9D-41CC-8346-A66ABF961EC2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967101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13D6CF-C951-4233-8C05-FC2B7D27C8E5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49119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96D5AE-7254-4A0E-BF27-8ACCF86131F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340038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2D9C1-8307-48E2-95E3-5C299A4B6B8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190669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A21E99-019C-4610-8E89-15627F058E74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97140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CD810-417C-4FC0-911C-8A532555A5F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36778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F58B3-F613-4188-ABD5-75C2EFD6034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02602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7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7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F907C-0B38-4B04-B99A-47828357F1E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750839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CB12EC-29C9-4953-96D2-AC1247C0411B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97380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2B2177-6598-49A4-A093-FCDB8A1488ED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79142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F8BC58-F9EE-4EF4-8BA7-73D1623D7F6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783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99FF"/>
            </a:gs>
            <a:gs pos="100000">
              <a:srgbClr val="C9E9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die Formate des Vorlagentextes zu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9CF637A9-2672-485D-BB5A-0633926A8C3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69606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Char char="•"/>
        <a:defRPr sz="4267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Char char="–"/>
        <a:defRPr sz="3733">
          <a:solidFill>
            <a:schemeClr val="tx1"/>
          </a:solidFill>
          <a:latin typeface="+mn-lt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Char char="–"/>
        <a:defRPr sz="2667">
          <a:solidFill>
            <a:schemeClr val="tx1"/>
          </a:solidFill>
          <a:latin typeface="+mn-lt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5pPr>
      <a:lvl6pPr marL="335271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6pPr>
      <a:lvl7pPr marL="3962301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7pPr>
      <a:lvl8pPr marL="457188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8pPr>
      <a:lvl9pPr marL="5181470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29E5E-2F70-C02E-EBB7-6F771770B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C5C3F908-119F-4724-9665-9772C6908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D9E71F32-9CF8-99C9-9190-DB2CBED1C1F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 err="1">
                <a:solidFill>
                  <a:schemeClr val="bg1"/>
                </a:solidFill>
                <a:latin typeface="Arial" charset="0"/>
              </a:rPr>
              <a:t>Mebis&amp;Sitzplan</a:t>
            </a:r>
            <a:endParaRPr lang="de-DE" altLang="de-DE" sz="2667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41C3AA0E-3E30-FD5D-6445-2A24BF496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E889788-10B4-F7BE-6AB2-3E49AF06F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739" y="1091868"/>
            <a:ext cx="6078521" cy="467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814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3140F-7D39-6AED-EB9A-0CBD71578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6E5865D9-C778-5436-4A58-18388BB7B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28BABDBD-B145-4CCD-3814-7D3EECEE6A3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Klassenkarte und Objektkarte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5571FCE7-D43E-4AF3-EABD-C00EB5A7F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60BEA09-EB39-4F6A-D6B6-A9AD750BC630}"/>
              </a:ext>
            </a:extLst>
          </p:cNvPr>
          <p:cNvSpPr txBox="1"/>
          <p:nvPr/>
        </p:nvSpPr>
        <p:spPr>
          <a:xfrm>
            <a:off x="745236" y="1051561"/>
            <a:ext cx="1092952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Zeichne</a:t>
            </a:r>
            <a:r>
              <a:rPr lang="de-DE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eine Klassenkarte der Klasse </a:t>
            </a:r>
            <a:r>
              <a:rPr lang="de-DE" sz="3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Roboter</a:t>
            </a:r>
            <a:r>
              <a:rPr lang="de-DE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Überlege dir geeignete Methoden, min. zwei Attribute und dazu passende Datentypen. Notiere diese in die Klassenkarte.</a:t>
            </a:r>
          </a:p>
          <a:p>
            <a:endParaRPr lang="de-DE" sz="36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de-DE" sz="36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Erstelle</a:t>
            </a:r>
            <a:r>
              <a:rPr lang="de-DE" sz="3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eine Objektkarte eines beispielhaften Roboters.</a:t>
            </a:r>
            <a:endParaRPr lang="de-DE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e-DE" sz="3600" dirty="0"/>
          </a:p>
        </p:txBody>
      </p:sp>
    </p:spTree>
    <p:extLst>
      <p:ext uri="{BB962C8B-B14F-4D97-AF65-F5344CB8AC3E}">
        <p14:creationId xmlns:p14="http://schemas.microsoft.com/office/powerpoint/2010/main" val="3648713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6FCEA-993E-54D1-8649-1A2102E70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F7518F1C-75C1-94E9-F2E6-9EFF5D7D4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41530DB1-72FB-40EF-15BD-C9A8A2D141E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Bedingte Wiederholung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262484E5-BA80-C694-5293-866CC6D80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8AF3364-1C14-EBD9-0836-0BC4DAAD3357}"/>
              </a:ext>
            </a:extLst>
          </p:cNvPr>
          <p:cNvSpPr txBox="1"/>
          <p:nvPr/>
        </p:nvSpPr>
        <p:spPr>
          <a:xfrm>
            <a:off x="510309" y="987622"/>
            <a:ext cx="615603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Erstelle</a:t>
            </a:r>
            <a:r>
              <a:rPr lang="de-DE" sz="2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ein Struktogramm, dass den Roboter anweist bis zum </a:t>
            </a:r>
            <a:r>
              <a:rPr lang="de-DE" sz="28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Oeltropfen</a:t>
            </a:r>
            <a:r>
              <a:rPr lang="de-DE" sz="2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zu gehen und anschließend um den </a:t>
            </a:r>
            <a:r>
              <a:rPr lang="de-DE" sz="28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Oeltropfen</a:t>
            </a:r>
            <a:r>
              <a:rPr lang="de-DE" sz="2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herum</a:t>
            </a:r>
          </a:p>
          <a:p>
            <a:r>
              <a:rPr lang="de-DE" sz="2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zu gehen</a:t>
            </a:r>
            <a:endParaRPr lang="de-DE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7FBD500-A10E-4DA9-5FC9-BEB5C9BDA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219" y="2530444"/>
            <a:ext cx="7036453" cy="284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733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79D3B-2C7D-CAEB-7B65-FC86727CE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8F323EF3-FED3-5708-774B-38B4AB8AE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C4D9F271-F0A6-CFFE-9876-DD67F11D4E5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Bedingte Anweisung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4540C9C1-5DEA-48AA-902D-B8D7046FF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E997FA8-028D-9645-7EE3-378BB6E16C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9309" y="982518"/>
            <a:ext cx="3614074" cy="3051282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2BFAE82A-5CCB-55F5-9A79-E23BCA38C013}"/>
              </a:ext>
            </a:extLst>
          </p:cNvPr>
          <p:cNvSpPr txBox="1"/>
          <p:nvPr/>
        </p:nvSpPr>
        <p:spPr>
          <a:xfrm>
            <a:off x="510309" y="987622"/>
            <a:ext cx="615603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Erstelle</a:t>
            </a:r>
            <a:r>
              <a:rPr lang="de-DE" sz="2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ein Struktogramm, dass den Roboter anweist, eine Schraube aufzunehmen, falls eine da ist.</a:t>
            </a:r>
            <a:endParaRPr lang="de-DE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039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8D765-39E3-E1CC-86A1-08692DA45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D2E017E7-E0C2-B229-51C6-E0D549122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EFC92BF5-46CB-75FD-9679-18159DFDE7C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Struktogramme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E06AEDD8-FB8D-5B22-8C61-9E9D5A6EF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0D940AD-7840-CA72-B5CB-93D8794399DC}"/>
              </a:ext>
            </a:extLst>
          </p:cNvPr>
          <p:cNvSpPr txBox="1"/>
          <p:nvPr/>
        </p:nvSpPr>
        <p:spPr>
          <a:xfrm>
            <a:off x="510308" y="987622"/>
            <a:ext cx="731289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Überlege</a:t>
            </a:r>
            <a:r>
              <a:rPr lang="de-DE" sz="2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dir eine eigene Aufgabe.</a:t>
            </a:r>
          </a:p>
          <a:p>
            <a:endParaRPr lang="de-DE" sz="28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de-DE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Skizziere ein eigenes Szenario mit passender Aufgabenstellung dazu.</a:t>
            </a:r>
          </a:p>
          <a:p>
            <a:endParaRPr lang="de-DE" sz="28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e-DE" sz="2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de-DE" sz="2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Gib deine Aufgabenstellung an deine Banknachbarin/deinen Banknachbarn und lass die Aufgabe von ihm/ihr lösen.</a:t>
            </a:r>
          </a:p>
          <a:p>
            <a:endParaRPr lang="de-DE" sz="2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de-DE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Gebt euch Feedback zu euren Aufgaben.</a:t>
            </a:r>
            <a:endParaRPr lang="de-DE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150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DF889-9E0B-B29A-262B-98D5B4ECD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A7EFF344-F4CC-2201-FD23-B938F0936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89E38015-0DB4-166D-5067-7C09B8ABF05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bedingte Wiederholung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6FE2C32A-BDEB-7172-4E3C-323A12D67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1ABAAB6-C438-340C-97B7-3A77843A2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26" y="1464037"/>
            <a:ext cx="6995709" cy="1809515"/>
          </a:xfrm>
          <a:prstGeom prst="rect">
            <a:avLst/>
          </a:prstGeom>
        </p:spPr>
      </p:pic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D2103685-A654-988E-EC3D-D4C3B4ED74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120746"/>
              </p:ext>
            </p:extLst>
          </p:nvPr>
        </p:nvGraphicFramePr>
        <p:xfrm>
          <a:off x="5303519" y="3694177"/>
          <a:ext cx="6143087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662">
                  <a:extLst>
                    <a:ext uri="{9D8B030D-6E8A-4147-A177-3AD203B41FA5}">
                      <a16:colId xmlns:a16="http://schemas.microsoft.com/office/drawing/2014/main" val="1240796010"/>
                    </a:ext>
                  </a:extLst>
                </a:gridCol>
                <a:gridCol w="5223425">
                  <a:extLst>
                    <a:ext uri="{9D8B030D-6E8A-4147-A177-3AD203B41FA5}">
                      <a16:colId xmlns:a16="http://schemas.microsoft.com/office/drawing/2014/main" val="356514514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de-DE" dirty="0" err="1">
                          <a:solidFill>
                            <a:sysClr val="windowText" lastClr="000000"/>
                          </a:solidFill>
                        </a:rPr>
                        <a:t>while</a:t>
                      </a:r>
                      <a:r>
                        <a:rPr lang="de-DE" dirty="0">
                          <a:solidFill>
                            <a:sysClr val="windowText" lastClr="000000"/>
                          </a:solidFill>
                        </a:rPr>
                        <a:t> (Bedingung)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04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  <a:p>
                      <a:r>
                        <a:rPr lang="de-DE" dirty="0"/>
                        <a:t>anweisung1();</a:t>
                      </a:r>
                    </a:p>
                    <a:p>
                      <a:r>
                        <a:rPr lang="de-DE" dirty="0"/>
                        <a:t>anweisung2();</a:t>
                      </a:r>
                    </a:p>
                    <a:p>
                      <a:endParaRPr lang="de-DE" dirty="0"/>
                    </a:p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70467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605091"/>
                  </a:ext>
                </a:extLst>
              </a:tr>
            </a:tbl>
          </a:graphicData>
        </a:graphic>
      </p:graphicFrame>
      <p:sp>
        <p:nvSpPr>
          <p:cNvPr id="5" name="Ellipse 4">
            <a:extLst>
              <a:ext uri="{FF2B5EF4-FFF2-40B4-BE49-F238E27FC236}">
                <a16:creationId xmlns:a16="http://schemas.microsoft.com/office/drawing/2014/main" id="{704061DE-3004-89EA-19D5-E1518204CFCF}"/>
              </a:ext>
            </a:extLst>
          </p:cNvPr>
          <p:cNvSpPr/>
          <p:nvPr/>
        </p:nvSpPr>
        <p:spPr>
          <a:xfrm>
            <a:off x="1554480" y="1170432"/>
            <a:ext cx="5212080" cy="1115568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F181EB3B-A52F-990F-A9F8-98E111F05E94}"/>
              </a:ext>
            </a:extLst>
          </p:cNvPr>
          <p:cNvSpPr/>
          <p:nvPr/>
        </p:nvSpPr>
        <p:spPr>
          <a:xfrm>
            <a:off x="4736592" y="3478765"/>
            <a:ext cx="3855720" cy="786384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E8ACCC3-CA3C-8594-43F6-3F3C46983C15}"/>
              </a:ext>
            </a:extLst>
          </p:cNvPr>
          <p:cNvSpPr txBox="1"/>
          <p:nvPr/>
        </p:nvSpPr>
        <p:spPr>
          <a:xfrm>
            <a:off x="7518400" y="1028519"/>
            <a:ext cx="420018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0" dirty="0">
                <a:solidFill>
                  <a:srgbClr val="FF0000"/>
                </a:solidFill>
              </a:rPr>
              <a:t>Fragebefehle</a:t>
            </a:r>
          </a:p>
          <a:p>
            <a:r>
              <a:rPr lang="de-DE" sz="2000" dirty="0" err="1">
                <a:solidFill>
                  <a:srgbClr val="FF0000"/>
                </a:solidFill>
              </a:rPr>
              <a:t>istWandVorne</a:t>
            </a:r>
            <a:r>
              <a:rPr lang="de-DE" sz="2000" dirty="0">
                <a:solidFill>
                  <a:srgbClr val="FF0000"/>
                </a:solidFill>
              </a:rPr>
              <a:t>()</a:t>
            </a:r>
          </a:p>
          <a:p>
            <a:r>
              <a:rPr lang="de-DE" sz="2000" dirty="0" err="1">
                <a:solidFill>
                  <a:srgbClr val="FF0000"/>
                </a:solidFill>
              </a:rPr>
              <a:t>istVorne</a:t>
            </a:r>
            <a:r>
              <a:rPr lang="de-DE" sz="2000" dirty="0">
                <a:solidFill>
                  <a:srgbClr val="FF0000"/>
                </a:solidFill>
              </a:rPr>
              <a:t>(„</a:t>
            </a:r>
            <a:r>
              <a:rPr lang="de-DE" sz="2000" dirty="0" err="1">
                <a:solidFill>
                  <a:srgbClr val="FF0000"/>
                </a:solidFill>
              </a:rPr>
              <a:t>Feuerloescher</a:t>
            </a:r>
            <a:r>
              <a:rPr lang="de-DE" sz="2000" dirty="0">
                <a:solidFill>
                  <a:srgbClr val="FF0000"/>
                </a:solidFill>
              </a:rPr>
              <a:t>“)</a:t>
            </a:r>
          </a:p>
          <a:p>
            <a:r>
              <a:rPr lang="de-DE" sz="2000" dirty="0" err="1">
                <a:solidFill>
                  <a:srgbClr val="FF0000"/>
                </a:solidFill>
              </a:rPr>
              <a:t>istVorne</a:t>
            </a:r>
            <a:r>
              <a:rPr lang="de-DE" sz="2000" dirty="0">
                <a:solidFill>
                  <a:srgbClr val="FF0000"/>
                </a:solidFill>
              </a:rPr>
              <a:t>(„Schraube“)</a:t>
            </a:r>
          </a:p>
          <a:p>
            <a:r>
              <a:rPr lang="de-DE" sz="2000" dirty="0" err="1">
                <a:solidFill>
                  <a:srgbClr val="FF0000"/>
                </a:solidFill>
              </a:rPr>
              <a:t>istAufGegenstand</a:t>
            </a:r>
            <a:r>
              <a:rPr lang="de-DE" sz="2000" dirty="0">
                <a:solidFill>
                  <a:srgbClr val="FF0000"/>
                </a:solidFill>
              </a:rPr>
              <a:t>(„Schraube“)</a:t>
            </a:r>
          </a:p>
        </p:txBody>
      </p:sp>
    </p:spTree>
    <p:extLst>
      <p:ext uri="{BB962C8B-B14F-4D97-AF65-F5344CB8AC3E}">
        <p14:creationId xmlns:p14="http://schemas.microsoft.com/office/powerpoint/2010/main" val="3455635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3C6C8-0C2E-1C5E-C25E-4F16247EF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7722584B-F74F-DA7F-77E1-5F1AAEA55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4D2C918D-956B-5DDE-D41F-03401E587C5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AB5 Aufgabe 2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78258170-4CD5-1874-C687-452F71A2E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539ACFE-2D5E-1E0B-D0EA-DB1F89385E0E}"/>
              </a:ext>
            </a:extLst>
          </p:cNvPr>
          <p:cNvSpPr txBox="1"/>
          <p:nvPr/>
        </p:nvSpPr>
        <p:spPr>
          <a:xfrm>
            <a:off x="385738" y="924871"/>
            <a:ext cx="1084191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Implementiere</a:t>
            </a:r>
            <a:r>
              <a:rPr lang="de-DE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die Methode </a:t>
            </a:r>
            <a:r>
              <a:rPr lang="de-DE" sz="2400" kern="100" dirty="0" err="1">
                <a:effectLst/>
                <a:latin typeface="Courier New" panose="020703090202050204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public</a:t>
            </a:r>
            <a:r>
              <a:rPr lang="de-DE" sz="2400" kern="100" dirty="0">
                <a:effectLst/>
                <a:latin typeface="Courier New" panose="020703090202050204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 err="1">
                <a:effectLst/>
                <a:latin typeface="Courier New" panose="020703090202050204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void</a:t>
            </a:r>
            <a:r>
              <a:rPr lang="de-DE" sz="2400" kern="100" dirty="0">
                <a:effectLst/>
                <a:latin typeface="Courier New" panose="020703090202050204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 err="1">
                <a:effectLst/>
                <a:latin typeface="Courier New" panose="020703090202050204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wegVonWand</a:t>
            </a:r>
            <a:r>
              <a:rPr lang="de-DE" sz="2400" kern="100" dirty="0">
                <a:effectLst/>
                <a:latin typeface="Courier New" panose="020703090202050204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r>
              <a:rPr lang="de-DE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die den Roboter umdrehen lässt, falls vor ihm eine Wand ist. Falls keine Wand ist, soll der Roboter einen Schritt nach vorne machen. Benutze dafür das Konstrukt einer </a:t>
            </a:r>
            <a:r>
              <a:rPr lang="de-DE" sz="24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zweiseitig bedingten Anweisung</a:t>
            </a:r>
            <a:r>
              <a:rPr lang="de-DE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de-DE" sz="2400" kern="100" dirty="0"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de-DE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Orientiere dich an folgendem Beispiel:</a:t>
            </a:r>
            <a:endParaRPr lang="de-DE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24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C5045DF-BC54-24B6-DA50-7FD89E477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7734" y="3300197"/>
            <a:ext cx="3032529" cy="3203377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621E226E-3651-AAD6-E7D5-C3BFBA2B18AF}"/>
              </a:ext>
            </a:extLst>
          </p:cNvPr>
          <p:cNvSpPr txBox="1"/>
          <p:nvPr/>
        </p:nvSpPr>
        <p:spPr>
          <a:xfrm>
            <a:off x="783844" y="3886222"/>
            <a:ext cx="615391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istAufGegenstand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(„Schraube“){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aufnehmen();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einsVor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399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B1D4A-0A74-9F2A-9898-D26B53758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8D8B0C96-DAC2-4589-B9A0-6AF6F53C3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87D96337-F6B3-F179-3B94-69B9AFD61E4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Methoden mit Rückgabe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0A892EF5-FAF0-1398-E82C-F58E6E6D7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325DE54-AF75-914B-F424-E7434353DB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7418" y="940001"/>
            <a:ext cx="3988059" cy="2603386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63E19E66-91E6-F1A1-E126-2A46809E4A60}"/>
              </a:ext>
            </a:extLst>
          </p:cNvPr>
          <p:cNvSpPr txBox="1"/>
          <p:nvPr/>
        </p:nvSpPr>
        <p:spPr>
          <a:xfrm>
            <a:off x="2190974" y="1582340"/>
            <a:ext cx="4596130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istBombeHinten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dreheUm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istVorne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(„Bombe){</a:t>
            </a: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dreheUm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dreheUm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C48D432-59E1-11D7-6E97-92BCD040E824}"/>
              </a:ext>
            </a:extLst>
          </p:cNvPr>
          <p:cNvSpPr/>
          <p:nvPr/>
        </p:nvSpPr>
        <p:spPr>
          <a:xfrm>
            <a:off x="2456873" y="3149600"/>
            <a:ext cx="2133600" cy="9605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5353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138A7-6C17-F78F-2952-3F7C49548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B7CB424C-B6D1-B32A-5B2D-ACABDEFB6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A84765D6-2DD1-00E3-5C7E-ECB5AD8BBEC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AB5 Aufgabe 2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A4F0D24E-6D5D-EFE2-33B8-A6F66DDB9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AD68B72-3309-0F06-4FEE-C8BD293FF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589" y="1181015"/>
            <a:ext cx="10592956" cy="525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281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D0686-CF96-0EAF-642C-08112C0D4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EDDFA174-2E7F-49A0-1C14-3D8E3C2D6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CCBF017C-C6A2-E947-BEC0-15A5643EB9B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Programmierübung 5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FF22DFCD-06B8-8F82-7F22-9DB208E11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46CFD1C-1BB0-EE9D-E16C-7ABFEDF90799}"/>
              </a:ext>
            </a:extLst>
          </p:cNvPr>
          <p:cNvSpPr txBox="1"/>
          <p:nvPr/>
        </p:nvSpPr>
        <p:spPr>
          <a:xfrm>
            <a:off x="200889" y="2414016"/>
            <a:ext cx="489550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dirty="0"/>
              <a:t>Jetzt:</a:t>
            </a:r>
          </a:p>
          <a:p>
            <a:r>
              <a:rPr lang="de-DE" sz="4800" dirty="0"/>
              <a:t>Aufgabe 10, 11, 12</a:t>
            </a:r>
          </a:p>
        </p:txBody>
      </p:sp>
    </p:spTree>
    <p:extLst>
      <p:ext uri="{BB962C8B-B14F-4D97-AF65-F5344CB8AC3E}">
        <p14:creationId xmlns:p14="http://schemas.microsoft.com/office/powerpoint/2010/main" val="3812153954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</Words>
  <Application>Microsoft Office PowerPoint</Application>
  <PresentationFormat>Breitbild</PresentationFormat>
  <Paragraphs>63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Courier New</vt:lpstr>
      <vt:lpstr>Times New Roman</vt:lpstr>
      <vt:lpstr>Standarddesign</vt:lpstr>
      <vt:lpstr>Mebis&amp;Sitzplan</vt:lpstr>
      <vt:lpstr>Wiederholung: Klassenkarte und Objektkarte</vt:lpstr>
      <vt:lpstr>Wiederholung: Bedingte Wiederholung</vt:lpstr>
      <vt:lpstr>Wiederholung: Bedingte Anweisung</vt:lpstr>
      <vt:lpstr>Wiederholung: Struktogramme</vt:lpstr>
      <vt:lpstr>Wiederholung: bedingte Wiederholung</vt:lpstr>
      <vt:lpstr>AB5 Aufgabe 2</vt:lpstr>
      <vt:lpstr>Methoden mit Rückgabe</vt:lpstr>
      <vt:lpstr>AB5 Aufgabe 2</vt:lpstr>
      <vt:lpstr>Programmierübung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Franke</dc:creator>
  <cp:lastModifiedBy>Florian Franke</cp:lastModifiedBy>
  <cp:revision>259</cp:revision>
  <dcterms:created xsi:type="dcterms:W3CDTF">2024-12-17T13:39:15Z</dcterms:created>
  <dcterms:modified xsi:type="dcterms:W3CDTF">2025-04-08T18:38:16Z</dcterms:modified>
</cp:coreProperties>
</file>