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404" r:id="rId2"/>
    <p:sldId id="414" r:id="rId3"/>
    <p:sldId id="415" r:id="rId4"/>
    <p:sldId id="416" r:id="rId5"/>
    <p:sldId id="413" r:id="rId6"/>
    <p:sldId id="410" r:id="rId7"/>
    <p:sldId id="412" r:id="rId8"/>
    <p:sldId id="417" r:id="rId9"/>
    <p:sldId id="41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125" autoAdjust="0"/>
  </p:normalViewPr>
  <p:slideViewPr>
    <p:cSldViewPr snapToGrid="0">
      <p:cViewPr varScale="1">
        <p:scale>
          <a:sx n="40" d="100"/>
          <a:sy n="40" d="100"/>
        </p:scale>
        <p:origin x="40" y="7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27.06.2026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 und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60BEA09-EB39-4F6A-D6B6-A9AD750BC630}"/>
              </a:ext>
            </a:extLst>
          </p:cNvPr>
          <p:cNvSpPr txBox="1"/>
          <p:nvPr/>
        </p:nvSpPr>
        <p:spPr>
          <a:xfrm>
            <a:off x="745236" y="1051561"/>
            <a:ext cx="109295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Zeichne</a:t>
            </a:r>
            <a:r>
              <a:rPr lang="de-DE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eine Klassenkarte der Klasse </a:t>
            </a:r>
            <a:r>
              <a:rPr lang="de-DE" sz="36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Roboter</a:t>
            </a:r>
            <a:r>
              <a:rPr lang="de-DE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Überlege dir geeignete Methoden, min. zwei Attribute und dazu passende Datentypen. Notiere diese in die Klassenkarte.</a:t>
            </a:r>
          </a:p>
          <a:p>
            <a:endParaRPr lang="de-DE" sz="3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3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Erstelle</a:t>
            </a:r>
            <a:r>
              <a:rPr lang="de-DE" sz="36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eine Objektkarte eines beispielhaften Roboters.</a:t>
            </a:r>
            <a:endParaRPr lang="de-DE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FCEA-993E-54D1-8649-1A2102E7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7518F1C-75C1-94E9-F2E6-9EFF5D7D4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1530DB1-72FB-40EF-15BD-C9A8A2D141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62484E5-BA80-C694-5293-866CC6D80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8AF3364-1C14-EBD9-0836-0BC4DAAD3357}"/>
              </a:ext>
            </a:extLst>
          </p:cNvPr>
          <p:cNvSpPr txBox="1"/>
          <p:nvPr/>
        </p:nvSpPr>
        <p:spPr>
          <a:xfrm>
            <a:off x="510309" y="987622"/>
            <a:ext cx="61560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Erstelle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ein Struktogramm, dass den Roboter anweist bis zum </a:t>
            </a:r>
            <a:r>
              <a:rPr lang="de-DE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Oeltropfen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zu gehen und anschließend um den </a:t>
            </a:r>
            <a:r>
              <a:rPr lang="de-DE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Oeltropfen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herum</a:t>
            </a:r>
          </a:p>
          <a:p>
            <a:r>
              <a:rPr lang="de-DE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zu gehen</a:t>
            </a:r>
            <a:endParaRPr lang="de-D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7FBD500-A10E-4DA9-5FC9-BEB5C9BD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219" y="2530444"/>
            <a:ext cx="7036453" cy="284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33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9D3B-2C7D-CAEB-7B65-FC86727CE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F323EF3-FED3-5708-774B-38B4AB8AE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4D9F271-F0A6-CFFE-9876-DD67F11D4E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Anweisung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540C9C1-5DEA-48AA-902D-B8D7046FF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E997FA8-028D-9645-7EE3-378BB6E16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309" y="982518"/>
            <a:ext cx="3614074" cy="305128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2BFAE82A-5CCB-55F5-9A79-E23BCA38C013}"/>
              </a:ext>
            </a:extLst>
          </p:cNvPr>
          <p:cNvSpPr txBox="1"/>
          <p:nvPr/>
        </p:nvSpPr>
        <p:spPr>
          <a:xfrm>
            <a:off x="510309" y="987622"/>
            <a:ext cx="61560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Erstelle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ein Struktogramm, dass den Roboter anweist, eine Schraube aufzunehmen, falls eine da ist.</a:t>
            </a:r>
            <a:endParaRPr lang="de-D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03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D765-39E3-E1CC-86A1-08692DA4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2E017E7-E0C2-B229-51C6-E0D549122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FC92BF5-46CB-75FD-9679-18159DFDE7C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Struktogramme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E06AEDD8-FB8D-5B22-8C61-9E9D5A6EF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0D940AD-7840-CA72-B5CB-93D8794399DC}"/>
              </a:ext>
            </a:extLst>
          </p:cNvPr>
          <p:cNvSpPr txBox="1"/>
          <p:nvPr/>
        </p:nvSpPr>
        <p:spPr>
          <a:xfrm>
            <a:off x="510308" y="987622"/>
            <a:ext cx="731289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Überlege</a:t>
            </a:r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dir eine eigene Aufgabe.</a:t>
            </a:r>
          </a:p>
          <a:p>
            <a:endParaRPr lang="de-DE" sz="2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Skizziere ein eigenes Szenario mit passender Aufgabenstellung dazu.</a:t>
            </a:r>
          </a:p>
          <a:p>
            <a:endParaRPr lang="de-DE" sz="28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DE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Gib deine Aufgabenstellung an deine Banknachbarin/deinen Banknachbarn und lass die Aufgabe von ihm/ihr lösen.</a:t>
            </a:r>
          </a:p>
          <a:p>
            <a:endParaRPr lang="de-DE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e-DE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Gebt euch Feedback zu euren Aufgaben.</a:t>
            </a:r>
            <a:endParaRPr lang="de-DE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15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F889-9E0B-B29A-262B-98D5B4EC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7EFF344-F4CC-2201-FD23-B938F0936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9E38015-0DB4-166D-5067-7C09B8ABF0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bedingte Wiederholung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FE2C32A-BDEB-7172-4E3C-323A12D67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1ABAAB6-C438-340C-97B7-3A77843A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6" y="1464037"/>
            <a:ext cx="6995709" cy="1809515"/>
          </a:xfrm>
          <a:prstGeom prst="rect">
            <a:avLst/>
          </a:prstGeom>
        </p:spPr>
      </p:pic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2103685-A654-988E-EC3D-D4C3B4ED7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20746"/>
              </p:ext>
            </p:extLst>
          </p:nvPr>
        </p:nvGraphicFramePr>
        <p:xfrm>
          <a:off x="5303519" y="3694177"/>
          <a:ext cx="614308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662">
                  <a:extLst>
                    <a:ext uri="{9D8B030D-6E8A-4147-A177-3AD203B41FA5}">
                      <a16:colId xmlns:a16="http://schemas.microsoft.com/office/drawing/2014/main" val="1240796010"/>
                    </a:ext>
                  </a:extLst>
                </a:gridCol>
                <a:gridCol w="5223425">
                  <a:extLst>
                    <a:ext uri="{9D8B030D-6E8A-4147-A177-3AD203B41FA5}">
                      <a16:colId xmlns:a16="http://schemas.microsoft.com/office/drawing/2014/main" val="356514514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de-DE" dirty="0" err="1">
                          <a:solidFill>
                            <a:sysClr val="windowText" lastClr="000000"/>
                          </a:solidFill>
                        </a:rPr>
                        <a:t>while</a:t>
                      </a:r>
                      <a:r>
                        <a:rPr lang="de-DE" dirty="0">
                          <a:solidFill>
                            <a:sysClr val="windowText" lastClr="000000"/>
                          </a:solidFill>
                        </a:rPr>
                        <a:t> (Bedingung)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4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  <a:p>
                      <a:r>
                        <a:rPr lang="de-DE" dirty="0"/>
                        <a:t>anweisung1();</a:t>
                      </a:r>
                    </a:p>
                    <a:p>
                      <a:r>
                        <a:rPr lang="de-DE" dirty="0"/>
                        <a:t>anweisung2();</a:t>
                      </a:r>
                    </a:p>
                    <a:p>
                      <a:endParaRPr lang="de-DE" dirty="0"/>
                    </a:p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70467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605091"/>
                  </a:ext>
                </a:extLst>
              </a:tr>
            </a:tbl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704061DE-3004-89EA-19D5-E1518204CFCF}"/>
              </a:ext>
            </a:extLst>
          </p:cNvPr>
          <p:cNvSpPr/>
          <p:nvPr/>
        </p:nvSpPr>
        <p:spPr>
          <a:xfrm>
            <a:off x="1554480" y="1170432"/>
            <a:ext cx="5212080" cy="1115568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181EB3B-A52F-990F-A9F8-98E111F05E94}"/>
              </a:ext>
            </a:extLst>
          </p:cNvPr>
          <p:cNvSpPr/>
          <p:nvPr/>
        </p:nvSpPr>
        <p:spPr>
          <a:xfrm>
            <a:off x="4736592" y="3478765"/>
            <a:ext cx="3855720" cy="78638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E8ACCC3-CA3C-8594-43F6-3F3C46983C15}"/>
              </a:ext>
            </a:extLst>
          </p:cNvPr>
          <p:cNvSpPr txBox="1"/>
          <p:nvPr/>
        </p:nvSpPr>
        <p:spPr>
          <a:xfrm>
            <a:off x="7518400" y="1028519"/>
            <a:ext cx="420018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0" dirty="0">
                <a:solidFill>
                  <a:srgbClr val="FF0000"/>
                </a:solidFill>
              </a:rPr>
              <a:t>Fragebefehle</a:t>
            </a:r>
          </a:p>
          <a:p>
            <a:r>
              <a:rPr lang="de-DE" sz="2000" dirty="0" err="1">
                <a:solidFill>
                  <a:srgbClr val="FF0000"/>
                </a:solidFill>
              </a:rPr>
              <a:t>istWandVorne</a:t>
            </a:r>
            <a:r>
              <a:rPr lang="de-DE" sz="2000" dirty="0">
                <a:solidFill>
                  <a:srgbClr val="FF0000"/>
                </a:solidFill>
              </a:rPr>
              <a:t>()</a:t>
            </a:r>
          </a:p>
          <a:p>
            <a:r>
              <a:rPr lang="de-DE" sz="2000" dirty="0" err="1">
                <a:solidFill>
                  <a:srgbClr val="FF0000"/>
                </a:solidFill>
              </a:rPr>
              <a:t>istVorne</a:t>
            </a:r>
            <a:r>
              <a:rPr lang="de-DE" sz="2000" dirty="0">
                <a:solidFill>
                  <a:srgbClr val="FF0000"/>
                </a:solidFill>
              </a:rPr>
              <a:t>(„</a:t>
            </a:r>
            <a:r>
              <a:rPr lang="de-DE" sz="2000" dirty="0" err="1">
                <a:solidFill>
                  <a:srgbClr val="FF0000"/>
                </a:solidFill>
              </a:rPr>
              <a:t>Feuerloescher</a:t>
            </a:r>
            <a:r>
              <a:rPr lang="de-DE" sz="2000" dirty="0">
                <a:solidFill>
                  <a:srgbClr val="FF0000"/>
                </a:solidFill>
              </a:rPr>
              <a:t>“)</a:t>
            </a:r>
          </a:p>
          <a:p>
            <a:r>
              <a:rPr lang="de-DE" sz="2000" dirty="0" err="1">
                <a:solidFill>
                  <a:srgbClr val="FF0000"/>
                </a:solidFill>
              </a:rPr>
              <a:t>istVorne</a:t>
            </a:r>
            <a:r>
              <a:rPr lang="de-DE" sz="2000" dirty="0">
                <a:solidFill>
                  <a:srgbClr val="FF0000"/>
                </a:solidFill>
              </a:rPr>
              <a:t>(„Schraube“)</a:t>
            </a:r>
          </a:p>
          <a:p>
            <a:r>
              <a:rPr lang="de-DE" sz="2000" dirty="0" err="1">
                <a:solidFill>
                  <a:srgbClr val="FF0000"/>
                </a:solidFill>
              </a:rPr>
              <a:t>istAufGegenstand</a:t>
            </a:r>
            <a:r>
              <a:rPr lang="de-DE" sz="2000" dirty="0">
                <a:solidFill>
                  <a:srgbClr val="FF0000"/>
                </a:solidFill>
              </a:rPr>
              <a:t>(„Schraube“)</a:t>
            </a:r>
          </a:p>
        </p:txBody>
      </p:sp>
    </p:spTree>
    <p:extLst>
      <p:ext uri="{BB962C8B-B14F-4D97-AF65-F5344CB8AC3E}">
        <p14:creationId xmlns:p14="http://schemas.microsoft.com/office/powerpoint/2010/main" val="345563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C6C8-0C2E-1C5E-C25E-4F16247E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722584B-F74F-DA7F-77E1-5F1AAEA55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D2C918D-956B-5DDE-D41F-03401E587C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AB5 Aufgabe 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78258170-4CD5-1874-C687-452F71A2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539ACFE-2D5E-1E0B-D0EA-DB1F89385E0E}"/>
              </a:ext>
            </a:extLst>
          </p:cNvPr>
          <p:cNvSpPr txBox="1"/>
          <p:nvPr/>
        </p:nvSpPr>
        <p:spPr>
          <a:xfrm>
            <a:off x="385738" y="924871"/>
            <a:ext cx="10841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Implementiere</a:t>
            </a:r>
            <a:r>
              <a:rPr lang="de-DE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die Methode </a:t>
            </a:r>
            <a:r>
              <a:rPr lang="de-DE" sz="24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public</a:t>
            </a:r>
            <a:r>
              <a:rPr lang="de-DE" sz="24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void</a:t>
            </a:r>
            <a:r>
              <a:rPr lang="de-DE" sz="24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wegVonWand</a:t>
            </a:r>
            <a:r>
              <a:rPr lang="de-DE" sz="2400" kern="100" dirty="0">
                <a:effectLst/>
                <a:latin typeface="Courier New" panose="020703090202050204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de-DE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die den Roboter umdrehen lässt, falls vor ihm eine Wand ist. Falls keine Wand ist, soll der Roboter einen Schritt nach vorne machen. Benutze dafür das Konstrukt einer </a:t>
            </a:r>
            <a:r>
              <a:rPr lang="de-DE" sz="2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zweiseitig bedingten Anweisung</a:t>
            </a:r>
            <a:r>
              <a:rPr lang="de-DE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sz="2400" kern="1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de-DE" sz="2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Orientiere dich an folgendem Beispiel:</a:t>
            </a:r>
            <a:endParaRPr lang="de-DE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C5045DF-BC54-24B6-DA50-7FD89E477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734" y="3300197"/>
            <a:ext cx="3032529" cy="320337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621E226E-3651-AAD6-E7D5-C3BFBA2B18AF}"/>
              </a:ext>
            </a:extLst>
          </p:cNvPr>
          <p:cNvSpPr txBox="1"/>
          <p:nvPr/>
        </p:nvSpPr>
        <p:spPr>
          <a:xfrm>
            <a:off x="783844" y="3886222"/>
            <a:ext cx="6153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istAufGegenstand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(„Schraube“){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aufnehmen();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einsVor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9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1D4A-0A74-9F2A-9898-D26B5375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D8B0C96-DAC2-4589-B9A0-6AF6F53C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7D96337-F6B3-F179-3B94-69B9AFD61E4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Methoden mit Rückgabe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A892EF5-FAF0-1398-E82C-F58E6E6D7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325DE54-AF75-914B-F424-E7434353D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418" y="940001"/>
            <a:ext cx="3988059" cy="260338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3E19E66-91E6-F1A1-E126-2A46809E4A60}"/>
              </a:ext>
            </a:extLst>
          </p:cNvPr>
          <p:cNvSpPr txBox="1"/>
          <p:nvPr/>
        </p:nvSpPr>
        <p:spPr>
          <a:xfrm>
            <a:off x="2190974" y="1582340"/>
            <a:ext cx="459613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istBombeHinten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dreheUm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istVorne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(„Bombe){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dreheUm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dreheUm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C48D432-59E1-11D7-6E97-92BCD040E824}"/>
              </a:ext>
            </a:extLst>
          </p:cNvPr>
          <p:cNvSpPr/>
          <p:nvPr/>
        </p:nvSpPr>
        <p:spPr>
          <a:xfrm>
            <a:off x="2456873" y="3149600"/>
            <a:ext cx="2133600" cy="9605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535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38A7-6C17-F78F-2952-3F7C4954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B7CB424C-B6D1-B32A-5B2D-ACABDEFB6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84765D6-2DD1-00E3-5C7E-ECB5AD8BBE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AB5 Aufgabe 2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A4F0D24E-6D5D-EFE2-33B8-A6F66DDB9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AD68B72-3309-0F06-4FEE-C8BD293FF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89" y="1181015"/>
            <a:ext cx="10592956" cy="525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8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0686-CF96-0EAF-642C-08112C0D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DFA174-2E7F-49A0-1C14-3D8E3C2D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CBF017C-C6A2-E947-BEC0-15A5643EB9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Programmierübung 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F22DFCD-06B8-8F82-7F22-9DB208E11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46CFD1C-1BB0-EE9D-E16C-7ABFEDF90799}"/>
              </a:ext>
            </a:extLst>
          </p:cNvPr>
          <p:cNvSpPr txBox="1"/>
          <p:nvPr/>
        </p:nvSpPr>
        <p:spPr>
          <a:xfrm>
            <a:off x="200889" y="2414016"/>
            <a:ext cx="48955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/>
              <a:t>Jetzt:</a:t>
            </a:r>
          </a:p>
          <a:p>
            <a:r>
              <a:rPr lang="de-DE" sz="4800" dirty="0"/>
              <a:t>Aufgabe 10, 11, 12</a:t>
            </a:r>
          </a:p>
        </p:txBody>
      </p:sp>
    </p:spTree>
    <p:extLst>
      <p:ext uri="{BB962C8B-B14F-4D97-AF65-F5344CB8AC3E}">
        <p14:creationId xmlns:p14="http://schemas.microsoft.com/office/powerpoint/2010/main" val="381215395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Breitbild</PresentationFormat>
  <Paragraphs>62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Courier New</vt:lpstr>
      <vt:lpstr>Times New Roman</vt:lpstr>
      <vt:lpstr>Standarddesign</vt:lpstr>
      <vt:lpstr>Wiederholung: Klassenkarte und Objektkarte</vt:lpstr>
      <vt:lpstr>Wiederholung: Bedingte Wiederholung</vt:lpstr>
      <vt:lpstr>Wiederholung: Bedingte Anweisung</vt:lpstr>
      <vt:lpstr>Wiederholung: Struktogramme</vt:lpstr>
      <vt:lpstr>Wiederholung: bedingte Wiederholung</vt:lpstr>
      <vt:lpstr>AB5 Aufgabe 2</vt:lpstr>
      <vt:lpstr>Methoden mit Rückgabe</vt:lpstr>
      <vt:lpstr>AB5 Aufgabe 2</vt:lpstr>
      <vt:lpstr>Programmierübung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260</cp:revision>
  <dcterms:created xsi:type="dcterms:W3CDTF">2024-12-17T13:39:15Z</dcterms:created>
  <dcterms:modified xsi:type="dcterms:W3CDTF">2026-06-27T12:55:23Z</dcterms:modified>
</cp:coreProperties>
</file>