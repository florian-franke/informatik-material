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12" r:id="rId2"/>
    <p:sldId id="421" r:id="rId3"/>
    <p:sldId id="405" r:id="rId4"/>
    <p:sldId id="414" r:id="rId5"/>
    <p:sldId id="410" r:id="rId6"/>
    <p:sldId id="411" r:id="rId7"/>
    <p:sldId id="409" r:id="rId8"/>
    <p:sldId id="408" r:id="rId9"/>
    <p:sldId id="404" r:id="rId10"/>
    <p:sldId id="413" r:id="rId11"/>
    <p:sldId id="416" r:id="rId12"/>
    <p:sldId id="417" r:id="rId13"/>
    <p:sldId id="418" r:id="rId14"/>
    <p:sldId id="419" r:id="rId15"/>
    <p:sldId id="420" r:id="rId16"/>
    <p:sldId id="415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23.03.2026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77274-CF2C-3370-7D21-BF5D95AB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AB18E78-82A6-906A-9CB2-EF65DA61F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30B8B5B-A274-C35A-192E-BE75F933FEA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Ausprobieren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8F9A655-DC7E-2E65-ABFE-E51E1197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3BCD53D-2FB9-D927-18DA-BF89610E424B}"/>
              </a:ext>
            </a:extLst>
          </p:cNvPr>
          <p:cNvSpPr txBox="1"/>
          <p:nvPr/>
        </p:nvSpPr>
        <p:spPr>
          <a:xfrm>
            <a:off x="203199" y="769730"/>
            <a:ext cx="117965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Öffne die Datei </a:t>
            </a:r>
            <a:r>
              <a:rPr lang="de-DE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Absatz.docx</a:t>
            </a:r>
          </a:p>
          <a:p>
            <a:r>
              <a:rPr lang="de-DE" sz="4000" dirty="0"/>
              <a:t>Probiere Einstellungen aus, um aus dem linken Absatz den rechten Absatz zu erhalten.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E9CA774-F662-FDD2-F87E-5C4FEF840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274" y="3041374"/>
            <a:ext cx="4716460" cy="34488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E0552C6-BF51-1B04-F637-975BC0129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92" y="3041374"/>
            <a:ext cx="4798659" cy="336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561D1-E7CD-8C82-56A0-F31131CC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1D6A4D1-BA32-7C30-88EC-3F16FEBD4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0AE66EB-869E-38F0-BB98-0D30900F8E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Konzentrationspunkte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4552045-3E3F-AED6-7D63-BA277C018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6A1060A-A62E-8075-639B-F968BC34F971}"/>
              </a:ext>
            </a:extLst>
          </p:cNvPr>
          <p:cNvSpPr txBox="1"/>
          <p:nvPr/>
        </p:nvSpPr>
        <p:spPr>
          <a:xfrm>
            <a:off x="203199" y="769730"/>
            <a:ext cx="117965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Regeln: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000" dirty="0"/>
              <a:t>Es spricht nur eine Person gleichzeitig.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4000" dirty="0"/>
              <a:t>Die </a:t>
            </a:r>
            <a:r>
              <a:rPr lang="de-DE" sz="4000" b="1" dirty="0"/>
              <a:t>eigenen </a:t>
            </a:r>
            <a:r>
              <a:rPr lang="de-DE" sz="4000" dirty="0"/>
              <a:t>Tastaturen/Mäuse werden nur bei PC-Arbeit berührt.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de-DE" sz="4000" dirty="0"/>
          </a:p>
          <a:p>
            <a:r>
              <a:rPr lang="de-DE" sz="4000" dirty="0"/>
              <a:t>Aktueller Stand: 3/15 Punkten</a:t>
            </a:r>
          </a:p>
        </p:txBody>
      </p:sp>
    </p:spTree>
    <p:extLst>
      <p:ext uri="{BB962C8B-B14F-4D97-AF65-F5344CB8AC3E}">
        <p14:creationId xmlns:p14="http://schemas.microsoft.com/office/powerpoint/2010/main" val="34836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87582-8307-05C9-721E-17F1074C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959002A-809B-1D93-9361-60514935A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92B3A371-CA5A-7276-C70C-F31DD90E0D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E7C80A1-BEBE-5A5C-8A20-66A2B4695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3B7C8E3-65A0-8BD2-DFA5-5FE516E2BAD5}"/>
              </a:ext>
            </a:extLst>
          </p:cNvPr>
          <p:cNvSpPr txBox="1"/>
          <p:nvPr/>
        </p:nvSpPr>
        <p:spPr>
          <a:xfrm>
            <a:off x="599768" y="1061884"/>
            <a:ext cx="8775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Objektkarte.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9BA7D8A-8E12-533E-1B8D-D59E16343746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2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43B658-022F-1A1C-6968-DD0CA131D90E}"/>
              </a:ext>
            </a:extLst>
          </p:cNvPr>
          <p:cNvSpPr txBox="1"/>
          <p:nvPr/>
        </p:nvSpPr>
        <p:spPr>
          <a:xfrm>
            <a:off x="599768" y="2861186"/>
            <a:ext cx="26917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Objektname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01FB644-518F-B312-5ECC-DF313D3E1D21}"/>
              </a:ext>
            </a:extLst>
          </p:cNvPr>
          <p:cNvSpPr txBox="1"/>
          <p:nvPr/>
        </p:nvSpPr>
        <p:spPr>
          <a:xfrm>
            <a:off x="202841" y="3925313"/>
            <a:ext cx="44476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(Wert-)Zuweisungen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02C098-9AB0-5B2A-2072-D2D5E9496B8F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1E03C32-9298-6438-711D-E8737F40188D}"/>
              </a:ext>
            </a:extLst>
          </p:cNvPr>
          <p:cNvSpPr txBox="1"/>
          <p:nvPr/>
        </p:nvSpPr>
        <p:spPr>
          <a:xfrm>
            <a:off x="5745422" y="2825384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E8A5519-D0A6-71DA-A5F1-0B7A3B647210}"/>
              </a:ext>
            </a:extLst>
          </p:cNvPr>
          <p:cNvSpPr txBox="1"/>
          <p:nvPr/>
        </p:nvSpPr>
        <p:spPr>
          <a:xfrm>
            <a:off x="5745422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5003F15-8275-747D-11DC-AD101F595A13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31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4" grpId="0" animBg="1"/>
      <p:bldP spid="15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2514B-EF82-0BAF-00AF-AC1A2FDA8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65A0F59-AE86-4AEE-0E46-BAECF163A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91FE15C-1991-3123-7674-FEFE527306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63D803F-7831-823D-E0FC-140848134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1EE85C7-7B5A-8372-45E8-51FC640D17A7}"/>
              </a:ext>
            </a:extLst>
          </p:cNvPr>
          <p:cNvSpPr txBox="1"/>
          <p:nvPr/>
        </p:nvSpPr>
        <p:spPr>
          <a:xfrm>
            <a:off x="2622247" y="3067452"/>
            <a:ext cx="14847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E01DF39-9298-7B3F-9E39-884DACEC93BF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BAC11CB-0E0A-DC02-8286-4C9049BD30D4}"/>
              </a:ext>
            </a:extLst>
          </p:cNvPr>
          <p:cNvSpPr txBox="1"/>
          <p:nvPr/>
        </p:nvSpPr>
        <p:spPr>
          <a:xfrm>
            <a:off x="5745422" y="2825384"/>
            <a:ext cx="5109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zeichen0:ZEICHEN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245A30F-32C6-F72B-DB1D-689A33E20A5C}"/>
              </a:ext>
            </a:extLst>
          </p:cNvPr>
          <p:cNvSpPr txBox="1"/>
          <p:nvPr/>
        </p:nvSpPr>
        <p:spPr>
          <a:xfrm>
            <a:off x="5745422" y="3533270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12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 = Arial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 = grün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 = ja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35F0B43-5DC8-B0C7-9B2F-E8366D91C4E0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A428629C-1B27-A511-3816-CDDDC6A32CD0}"/>
              </a:ext>
            </a:extLst>
          </p:cNvPr>
          <p:cNvSpPr txBox="1"/>
          <p:nvPr/>
        </p:nvSpPr>
        <p:spPr>
          <a:xfrm>
            <a:off x="599768" y="1061884"/>
            <a:ext cx="100603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passende Attribute zu den Attributwerten</a:t>
            </a:r>
          </a:p>
        </p:txBody>
      </p:sp>
    </p:spTree>
    <p:extLst>
      <p:ext uri="{BB962C8B-B14F-4D97-AF65-F5344CB8AC3E}">
        <p14:creationId xmlns:p14="http://schemas.microsoft.com/office/powerpoint/2010/main" val="330749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91D1-D199-B36C-73F0-3E8A68B2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EB73424-352D-5673-B41E-7EBC420E4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F0B6CE3-CB96-6E46-DE41-D374B2894A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F173EE9E-53C3-4F4A-3295-B63879753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3500E35-BAAC-A7A5-2BCE-74D2D989A3F6}"/>
              </a:ext>
            </a:extLst>
          </p:cNvPr>
          <p:cNvSpPr txBox="1"/>
          <p:nvPr/>
        </p:nvSpPr>
        <p:spPr>
          <a:xfrm>
            <a:off x="2622247" y="3067452"/>
            <a:ext cx="14847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6309C18-9B4A-D721-F77A-3380A47ADA49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5F4110E-9C65-80F1-5005-BB11666B204F}"/>
              </a:ext>
            </a:extLst>
          </p:cNvPr>
          <p:cNvSpPr txBox="1"/>
          <p:nvPr/>
        </p:nvSpPr>
        <p:spPr>
          <a:xfrm>
            <a:off x="5745422" y="2825384"/>
            <a:ext cx="5109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zeichen0:ZEICHEN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1DDF30B-35CF-A5C3-30BC-08287D6631F5}"/>
              </a:ext>
            </a:extLst>
          </p:cNvPr>
          <p:cNvSpPr txBox="1"/>
          <p:nvPr/>
        </p:nvSpPr>
        <p:spPr>
          <a:xfrm>
            <a:off x="5745422" y="3533270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schriftgroesse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12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 = Arial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 = grün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 = ja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CCD7C52-F7BF-BAF4-AFE7-1304D0B7B780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718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09B5-6B72-210E-CADD-D843B7E8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6D49336-D55E-D04E-B789-6CC4D9212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9ACC4C9-8C45-E4D3-38DB-9F38A09929C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DFA2B591-7A60-D46A-C542-380BCB9F1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07ECE69-27C4-35C3-25E8-0A4795BF4470}"/>
              </a:ext>
            </a:extLst>
          </p:cNvPr>
          <p:cNvSpPr txBox="1"/>
          <p:nvPr/>
        </p:nvSpPr>
        <p:spPr>
          <a:xfrm>
            <a:off x="2622247" y="3067452"/>
            <a:ext cx="14847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AC4D7E2A-3797-A877-546A-B472B8B69BF3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93550A0-27DE-BD4B-1835-51D34B56AE5F}"/>
              </a:ext>
            </a:extLst>
          </p:cNvPr>
          <p:cNvSpPr txBox="1"/>
          <p:nvPr/>
        </p:nvSpPr>
        <p:spPr>
          <a:xfrm>
            <a:off x="5745422" y="2825384"/>
            <a:ext cx="5109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zeichen0:ZEICHEN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D034A8E-D129-3B76-E0A4-A06011A08D5F}"/>
              </a:ext>
            </a:extLst>
          </p:cNvPr>
          <p:cNvSpPr txBox="1"/>
          <p:nvPr/>
        </p:nvSpPr>
        <p:spPr>
          <a:xfrm>
            <a:off x="5745422" y="3533270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schriftgroesse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12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schriftart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Arial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 = grün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 = ja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E17CF2E-CCFF-725E-8E6E-4C69BB3CDEF8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296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ADA7-DEDF-3479-B292-F3DA5BFA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EF681E5-E83C-32C0-AACD-519778131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052261F5-1A88-9D5F-62DA-8EF68FDA904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6E6708E-38CF-A04F-1859-918A0A110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E47E995-18AB-2E72-FB0F-F3675E91467D}"/>
              </a:ext>
            </a:extLst>
          </p:cNvPr>
          <p:cNvSpPr txBox="1"/>
          <p:nvPr/>
        </p:nvSpPr>
        <p:spPr>
          <a:xfrm>
            <a:off x="2622247" y="3067452"/>
            <a:ext cx="14847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00D0700-E921-13CC-E661-CC836DA48D8D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C2B36CB-DF76-6D67-CC58-D5172080DD6B}"/>
              </a:ext>
            </a:extLst>
          </p:cNvPr>
          <p:cNvSpPr txBox="1"/>
          <p:nvPr/>
        </p:nvSpPr>
        <p:spPr>
          <a:xfrm>
            <a:off x="5745422" y="2825384"/>
            <a:ext cx="5109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zeichen0:ZEICHEN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B8531DF-610C-5F40-F0E1-39B18699B380}"/>
              </a:ext>
            </a:extLst>
          </p:cNvPr>
          <p:cNvSpPr txBox="1"/>
          <p:nvPr/>
        </p:nvSpPr>
        <p:spPr>
          <a:xfrm>
            <a:off x="5745422" y="3533270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schriftgroesse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12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schriftart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Arial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schriftfarbe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grün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 = ja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762B063-6CE0-9B9B-85A1-E8A7171F3562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35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2A67-A9CC-C703-5A6F-3A38A365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517F5588-E5CC-0EDE-4B8F-392F473C1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4B4009F-934D-D827-7C8B-4A923D7023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Objektkarte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021E71C6-AB7B-C7C2-1C7A-7723ECDB7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B5B2BB7-9B24-6C6A-85E9-754D9BC8C968}"/>
              </a:ext>
            </a:extLst>
          </p:cNvPr>
          <p:cNvSpPr txBox="1"/>
          <p:nvPr/>
        </p:nvSpPr>
        <p:spPr>
          <a:xfrm>
            <a:off x="2622247" y="3067452"/>
            <a:ext cx="148470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6E6D5E8-415C-2C3B-7581-96E7B9A03F7A}"/>
              </a:ext>
            </a:extLst>
          </p:cNvPr>
          <p:cNvSpPr/>
          <p:nvPr/>
        </p:nvSpPr>
        <p:spPr>
          <a:xfrm>
            <a:off x="5545394" y="2695614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5F58396-3D40-D2A9-E8D0-BB3392EE7199}"/>
              </a:ext>
            </a:extLst>
          </p:cNvPr>
          <p:cNvSpPr txBox="1"/>
          <p:nvPr/>
        </p:nvSpPr>
        <p:spPr>
          <a:xfrm>
            <a:off x="5745422" y="2825384"/>
            <a:ext cx="5109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zeichen0:ZEICHEN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656A27F-9138-41E6-6598-4876E1E08F8A}"/>
              </a:ext>
            </a:extLst>
          </p:cNvPr>
          <p:cNvSpPr txBox="1"/>
          <p:nvPr/>
        </p:nvSpPr>
        <p:spPr>
          <a:xfrm>
            <a:off x="5745422" y="3533270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schriftgroesse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12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schriftart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Arial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schriftfarbe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grün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fett = ja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38043BC-DE23-A9C6-231B-4CF3DDB22291}"/>
              </a:ext>
            </a:extLst>
          </p:cNvPr>
          <p:cNvCxnSpPr/>
          <p:nvPr/>
        </p:nvCxnSpPr>
        <p:spPr>
          <a:xfrm>
            <a:off x="5545394" y="3429000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095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3140F-7D39-6AED-EB9A-0CBD7157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6E5865D9-C778-5436-4A58-18388BB7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8BABDBD-B145-4CCD-3814-7D3EECEE6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Wiederholung: Klassenkarte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571FCE7-D43E-4AF3-EABD-C00EB5A7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095E0BF-FF67-D417-0AC7-9D0E2CBB0F74}"/>
              </a:ext>
            </a:extLst>
          </p:cNvPr>
          <p:cNvSpPr txBox="1"/>
          <p:nvPr/>
        </p:nvSpPr>
        <p:spPr>
          <a:xfrm>
            <a:off x="599768" y="1061884"/>
            <a:ext cx="9004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Nenne die Bestandteile einer Klassenkarte.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D76F6D9-D41C-EF94-9522-9BE53144CF13}"/>
              </a:ext>
            </a:extLst>
          </p:cNvPr>
          <p:cNvGrpSpPr/>
          <p:nvPr/>
        </p:nvGrpSpPr>
        <p:grpSpPr>
          <a:xfrm>
            <a:off x="4347771" y="2841522"/>
            <a:ext cx="5417574" cy="3474883"/>
            <a:chOff x="835742" y="2212258"/>
            <a:chExt cx="5417574" cy="347488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111C84CD-CE5A-30D3-5365-41CAB902AFC0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E4BB174C-7F9B-B546-A7AA-8BB1D5981805}"/>
                </a:ext>
              </a:extLst>
            </p:cNvPr>
            <p:cNvSpPr/>
            <p:nvPr/>
          </p:nvSpPr>
          <p:spPr>
            <a:xfrm>
              <a:off x="835742" y="2920143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0F157D83-6EF6-C984-FC74-B9304F9A236E}"/>
                </a:ext>
              </a:extLst>
            </p:cNvPr>
            <p:cNvSpPr/>
            <p:nvPr/>
          </p:nvSpPr>
          <p:spPr>
            <a:xfrm>
              <a:off x="835742" y="4303642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9" name="Textfeld 8">
            <a:extLst>
              <a:ext uri="{FF2B5EF4-FFF2-40B4-BE49-F238E27FC236}">
                <a16:creationId xmlns:a16="http://schemas.microsoft.com/office/drawing/2014/main" id="{9C92A27E-9B35-8D24-41D8-C8AF871EDD12}"/>
              </a:ext>
            </a:extLst>
          </p:cNvPr>
          <p:cNvSpPr txBox="1"/>
          <p:nvPr/>
        </p:nvSpPr>
        <p:spPr>
          <a:xfrm>
            <a:off x="599768" y="1987728"/>
            <a:ext cx="23920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3 Bereiche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DC7CA7-F7F5-F04F-1DC5-886053749163}"/>
              </a:ext>
            </a:extLst>
          </p:cNvPr>
          <p:cNvSpPr txBox="1"/>
          <p:nvPr/>
        </p:nvSpPr>
        <p:spPr>
          <a:xfrm>
            <a:off x="599768" y="2861186"/>
            <a:ext cx="2920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6"/>
                </a:solidFill>
              </a:rPr>
              <a:t>Klassenname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2E0BCC-26CE-F0B7-AF9C-C6BA78E27011}"/>
              </a:ext>
            </a:extLst>
          </p:cNvPr>
          <p:cNvSpPr txBox="1"/>
          <p:nvPr/>
        </p:nvSpPr>
        <p:spPr>
          <a:xfrm>
            <a:off x="599768" y="3932938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</a:rPr>
              <a:t>Eigenschaften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3D295-3B9D-F1BC-5FBD-5AE1F2CC58F9}"/>
              </a:ext>
            </a:extLst>
          </p:cNvPr>
          <p:cNvSpPr txBox="1"/>
          <p:nvPr/>
        </p:nvSpPr>
        <p:spPr>
          <a:xfrm>
            <a:off x="4403639" y="3533270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attribut1;</a:t>
            </a:r>
          </a:p>
          <a:p>
            <a:r>
              <a:rPr lang="de-DE" sz="4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attribut2;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1A0EF4-49B3-D128-C7BB-8D44AEC9412B}"/>
              </a:ext>
            </a:extLst>
          </p:cNvPr>
          <p:cNvSpPr txBox="1"/>
          <p:nvPr/>
        </p:nvSpPr>
        <p:spPr>
          <a:xfrm>
            <a:off x="4403639" y="2879621"/>
            <a:ext cx="3877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Beispielname</a:t>
            </a:r>
          </a:p>
        </p:txBody>
      </p:sp>
    </p:spTree>
    <p:extLst>
      <p:ext uri="{BB962C8B-B14F-4D97-AF65-F5344CB8AC3E}">
        <p14:creationId xmlns:p14="http://schemas.microsoft.com/office/powerpoint/2010/main" val="364871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2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B874-348D-80EB-4AC6-639F8048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CDE8C4D-A36C-61A8-12F7-F4F87C71A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CDE697A-5387-A1D4-C2D1-BCCAECC7FA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73E1336-3572-29A3-B2F5-A240A91FE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4C7A453-27FB-B332-A1F4-96336AE347A8}"/>
              </a:ext>
            </a:extLst>
          </p:cNvPr>
          <p:cNvSpPr txBox="1"/>
          <p:nvPr/>
        </p:nvSpPr>
        <p:spPr>
          <a:xfrm>
            <a:off x="450681" y="750130"/>
            <a:ext cx="10124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/>
              <a:t>Nenne Einstellungsmöglichkeiten für einen Absatz. </a:t>
            </a:r>
          </a:p>
          <a:p>
            <a:r>
              <a:rPr lang="de-DE" sz="4000" dirty="0"/>
              <a:t>Ergänze die Klassenkarte der Klasse </a:t>
            </a:r>
            <a:r>
              <a:rPr lang="de-DE" sz="4000" dirty="0" err="1"/>
              <a:t>ABSATZum</a:t>
            </a:r>
            <a:r>
              <a:rPr lang="de-DE" sz="4000" dirty="0"/>
              <a:t> Attribute.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AF8C2CF-7068-FCE5-803C-81B43BC7FEB0}"/>
              </a:ext>
            </a:extLst>
          </p:cNvPr>
          <p:cNvGrpSpPr/>
          <p:nvPr/>
        </p:nvGrpSpPr>
        <p:grpSpPr>
          <a:xfrm>
            <a:off x="6345537" y="2921035"/>
            <a:ext cx="5417574" cy="3474883"/>
            <a:chOff x="835742" y="2212258"/>
            <a:chExt cx="5417574" cy="3474883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4675DEAA-2EB1-1DF6-CB86-BE9814E3BA49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112BE6AE-1178-C113-E429-D54B88FDA58B}"/>
                </a:ext>
              </a:extLst>
            </p:cNvPr>
            <p:cNvSpPr/>
            <p:nvPr/>
          </p:nvSpPr>
          <p:spPr>
            <a:xfrm>
              <a:off x="835742" y="2920143"/>
              <a:ext cx="5417574" cy="2408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F520DB66-1E2E-AA46-BC6B-E839D9CBD82E}"/>
                </a:ext>
              </a:extLst>
            </p:cNvPr>
            <p:cNvSpPr/>
            <p:nvPr/>
          </p:nvSpPr>
          <p:spPr>
            <a:xfrm>
              <a:off x="835742" y="5329084"/>
              <a:ext cx="5417574" cy="3580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BA85736F-6423-BF99-75F2-063F14847EC1}"/>
              </a:ext>
            </a:extLst>
          </p:cNvPr>
          <p:cNvSpPr txBox="1"/>
          <p:nvPr/>
        </p:nvSpPr>
        <p:spPr>
          <a:xfrm>
            <a:off x="6401405" y="3612783"/>
            <a:ext cx="38779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ausrichtung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einzug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nummerierung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979ECD1-EF31-D0D1-BC97-23A0FD34485F}"/>
              </a:ext>
            </a:extLst>
          </p:cNvPr>
          <p:cNvSpPr txBox="1"/>
          <p:nvPr/>
        </p:nvSpPr>
        <p:spPr>
          <a:xfrm>
            <a:off x="6401405" y="2959134"/>
            <a:ext cx="203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ABSATZ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460648B-FA4F-3BB8-8CE4-2DAAE1EF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81" y="3304675"/>
            <a:ext cx="4716460" cy="3448878"/>
          </a:xfrm>
          <a:prstGeom prst="rect">
            <a:avLst/>
          </a:prstGeom>
        </p:spPr>
      </p:pic>
      <p:pic>
        <p:nvPicPr>
          <p:cNvPr id="6" name="Grafik 5" descr="Chat Silhouette">
            <a:extLst>
              <a:ext uri="{FF2B5EF4-FFF2-40B4-BE49-F238E27FC236}">
                <a16:creationId xmlns:a16="http://schemas.microsoft.com/office/drawing/2014/main" id="{4DCE2E7E-6998-2FC1-FEBF-7D6403691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30370" y="304491"/>
            <a:ext cx="2246671" cy="224667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0923F5B-B2A1-C8BC-C3E2-A2DD603DF844}"/>
              </a:ext>
            </a:extLst>
          </p:cNvPr>
          <p:cNvSpPr txBox="1"/>
          <p:nvPr/>
        </p:nvSpPr>
        <p:spPr>
          <a:xfrm>
            <a:off x="10434162" y="2053989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 min</a:t>
            </a:r>
          </a:p>
        </p:txBody>
      </p:sp>
    </p:spTree>
    <p:extLst>
      <p:ext uri="{BB962C8B-B14F-4D97-AF65-F5344CB8AC3E}">
        <p14:creationId xmlns:p14="http://schemas.microsoft.com/office/powerpoint/2010/main" val="299875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4" grpId="0" build="p"/>
      <p:bldP spid="1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99A9-B7DE-F45A-A2D8-7437B279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472B1D9A-33DB-2EEB-ABCA-05B287F45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F2547496-6655-F3AF-EBB8-BEE114745D0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808CE51-F114-D85A-CC90-C1C31FA82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77467AC-30F6-2F45-5A9D-DA561F654242}"/>
              </a:ext>
            </a:extLst>
          </p:cNvPr>
          <p:cNvSpPr txBox="1"/>
          <p:nvPr/>
        </p:nvSpPr>
        <p:spPr>
          <a:xfrm>
            <a:off x="599768" y="1061884"/>
            <a:ext cx="11168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Ergänze</a:t>
            </a:r>
            <a:r>
              <a:rPr lang="de-DE" sz="3200" dirty="0"/>
              <a:t> die Klassenkarte der Klasse ABSATZ auf dem Arbeitsblatt AB2.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E0108C-75B3-BA71-DD01-85E19CAB0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2" y="3296856"/>
            <a:ext cx="5289476" cy="2851930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08614C4-8107-E35E-C349-B6D2B7E30071}"/>
              </a:ext>
            </a:extLst>
          </p:cNvPr>
          <p:cNvGrpSpPr/>
          <p:nvPr/>
        </p:nvGrpSpPr>
        <p:grpSpPr>
          <a:xfrm>
            <a:off x="6658274" y="3123987"/>
            <a:ext cx="5417574" cy="3474883"/>
            <a:chOff x="835742" y="2212258"/>
            <a:chExt cx="5417574" cy="3474883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D3BBEAD9-8496-6730-16BC-6D3163CFB340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75759897-E924-9A71-0939-4439544BBA88}"/>
                </a:ext>
              </a:extLst>
            </p:cNvPr>
            <p:cNvSpPr/>
            <p:nvPr/>
          </p:nvSpPr>
          <p:spPr>
            <a:xfrm>
              <a:off x="835742" y="2920143"/>
              <a:ext cx="5417574" cy="2408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EE8496C-8894-5E68-3FA8-C83F83E516E8}"/>
                </a:ext>
              </a:extLst>
            </p:cNvPr>
            <p:cNvSpPr/>
            <p:nvPr/>
          </p:nvSpPr>
          <p:spPr>
            <a:xfrm>
              <a:off x="835742" y="5329084"/>
              <a:ext cx="5417574" cy="3580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9" name="Textfeld 18">
            <a:extLst>
              <a:ext uri="{FF2B5EF4-FFF2-40B4-BE49-F238E27FC236}">
                <a16:creationId xmlns:a16="http://schemas.microsoft.com/office/drawing/2014/main" id="{1425D2AD-BB0E-EC4F-6233-EF83EEA706F5}"/>
              </a:ext>
            </a:extLst>
          </p:cNvPr>
          <p:cNvSpPr txBox="1"/>
          <p:nvPr/>
        </p:nvSpPr>
        <p:spPr>
          <a:xfrm>
            <a:off x="6714142" y="3815735"/>
            <a:ext cx="38779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ausrichtung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einzug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sz="40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nummerierung</a:t>
            </a:r>
            <a:endParaRPr lang="de-DE" sz="40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C383B04-BC5C-8BEB-DB9E-EE5E69D18B8C}"/>
              </a:ext>
            </a:extLst>
          </p:cNvPr>
          <p:cNvSpPr txBox="1"/>
          <p:nvPr/>
        </p:nvSpPr>
        <p:spPr>
          <a:xfrm>
            <a:off x="6714142" y="3162086"/>
            <a:ext cx="20313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ABSATZ</a:t>
            </a:r>
          </a:p>
        </p:txBody>
      </p:sp>
    </p:spTree>
    <p:extLst>
      <p:ext uri="{BB962C8B-B14F-4D97-AF65-F5344CB8AC3E}">
        <p14:creationId xmlns:p14="http://schemas.microsoft.com/office/powerpoint/2010/main" val="34389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5BDDA-544C-7A5E-6B2A-168840ECD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FB3DDA35-889A-6169-88ED-027E83602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E506B02-6DCA-175B-87CE-84991E81672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3378093B-CECF-BC3E-D241-53F5D5E79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74E42F-57E0-B6EB-8285-5070D3383EF8}"/>
              </a:ext>
            </a:extLst>
          </p:cNvPr>
          <p:cNvSpPr txBox="1"/>
          <p:nvPr/>
        </p:nvSpPr>
        <p:spPr>
          <a:xfrm>
            <a:off x="599768" y="1061884"/>
            <a:ext cx="11168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Überlegt</a:t>
            </a:r>
            <a:r>
              <a:rPr lang="de-DE" sz="3200" dirty="0"/>
              <a:t> euch mögliche Attributwerte.</a:t>
            </a:r>
          </a:p>
          <a:p>
            <a:r>
              <a:rPr lang="de-DE" sz="3200" b="1" dirty="0"/>
              <a:t>Ergänze</a:t>
            </a:r>
            <a:r>
              <a:rPr lang="de-DE" sz="3200" dirty="0"/>
              <a:t> die Objektkarte der Klasse ABSATZ.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DBF4D8-0B14-F306-53EB-CDA5A4BD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652" y="3292934"/>
            <a:ext cx="5289476" cy="2851930"/>
          </a:xfrm>
          <a:prstGeom prst="rect">
            <a:avLst/>
          </a:prstGeom>
        </p:spPr>
      </p:pic>
      <p:pic>
        <p:nvPicPr>
          <p:cNvPr id="4" name="Grafik 3" descr="Chat Silhouette">
            <a:extLst>
              <a:ext uri="{FF2B5EF4-FFF2-40B4-BE49-F238E27FC236}">
                <a16:creationId xmlns:a16="http://schemas.microsoft.com/office/drawing/2014/main" id="{8D86152F-FCC4-D150-6D08-901C41B89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45467" y="704910"/>
            <a:ext cx="2246671" cy="2246671"/>
          </a:xfrm>
          <a:prstGeom prst="rect">
            <a:avLst/>
          </a:prstGeom>
        </p:spPr>
      </p:pic>
      <p:sp>
        <p:nvSpPr>
          <p:cNvPr id="5" name="Pfeil: nach links 4">
            <a:extLst>
              <a:ext uri="{FF2B5EF4-FFF2-40B4-BE49-F238E27FC236}">
                <a16:creationId xmlns:a16="http://schemas.microsoft.com/office/drawing/2014/main" id="{7C34CB70-93DD-729E-775D-BEFD4AC68965}"/>
              </a:ext>
            </a:extLst>
          </p:cNvPr>
          <p:cNvSpPr/>
          <p:nvPr/>
        </p:nvSpPr>
        <p:spPr>
          <a:xfrm>
            <a:off x="5768258" y="4441705"/>
            <a:ext cx="1750142" cy="91527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0D89E8D-924F-BE68-84BC-362C9B3E1816}"/>
              </a:ext>
            </a:extLst>
          </p:cNvPr>
          <p:cNvSpPr txBox="1"/>
          <p:nvPr/>
        </p:nvSpPr>
        <p:spPr>
          <a:xfrm>
            <a:off x="9549259" y="2454408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 min</a:t>
            </a:r>
          </a:p>
        </p:txBody>
      </p:sp>
    </p:spTree>
    <p:extLst>
      <p:ext uri="{BB962C8B-B14F-4D97-AF65-F5344CB8AC3E}">
        <p14:creationId xmlns:p14="http://schemas.microsoft.com/office/powerpoint/2010/main" val="23814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CD3B-5BF1-C8FC-3AB3-74475008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112E6199-4AD2-E1A0-C7FD-F68B053C9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C205816-BFD6-E2BF-4D8B-C8952E99D6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13642D0B-89D8-6C7D-B692-18F380718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9D8EA59-5337-0135-8B5A-DD91A4AED5E2}"/>
              </a:ext>
            </a:extLst>
          </p:cNvPr>
          <p:cNvSpPr txBox="1"/>
          <p:nvPr/>
        </p:nvSpPr>
        <p:spPr>
          <a:xfrm>
            <a:off x="599768" y="1061884"/>
            <a:ext cx="11168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Überlegt</a:t>
            </a:r>
            <a:r>
              <a:rPr lang="de-DE" sz="3200" dirty="0"/>
              <a:t> euch mögliche Attributwerte.</a:t>
            </a:r>
          </a:p>
          <a:p>
            <a:r>
              <a:rPr lang="de-DE" sz="3200" b="1" dirty="0"/>
              <a:t>Ergänze</a:t>
            </a:r>
            <a:r>
              <a:rPr lang="de-DE" sz="3200" dirty="0"/>
              <a:t> die Objektkarte der Klasse ABSATZ.</a:t>
            </a:r>
          </a:p>
        </p:txBody>
      </p:sp>
      <p:pic>
        <p:nvPicPr>
          <p:cNvPr id="4" name="Grafik 3" descr="Chat Silhouette">
            <a:extLst>
              <a:ext uri="{FF2B5EF4-FFF2-40B4-BE49-F238E27FC236}">
                <a16:creationId xmlns:a16="http://schemas.microsoft.com/office/drawing/2014/main" id="{D3A45CEF-048C-D1BC-FA26-0790DFB43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5467" y="704910"/>
            <a:ext cx="2246671" cy="224667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CE8E5F2-7D1B-197A-C68B-EE96344C5B2E}"/>
              </a:ext>
            </a:extLst>
          </p:cNvPr>
          <p:cNvSpPr txBox="1"/>
          <p:nvPr/>
        </p:nvSpPr>
        <p:spPr>
          <a:xfrm>
            <a:off x="9549259" y="2454408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 min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1DC32A8-2906-0C91-F35E-B34CB0ED8D8F}"/>
              </a:ext>
            </a:extLst>
          </p:cNvPr>
          <p:cNvSpPr/>
          <p:nvPr/>
        </p:nvSpPr>
        <p:spPr>
          <a:xfrm>
            <a:off x="2563654" y="2844701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B6CB92A-D4B4-9825-E9A3-008ADBCE8FE1}"/>
              </a:ext>
            </a:extLst>
          </p:cNvPr>
          <p:cNvSpPr txBox="1"/>
          <p:nvPr/>
        </p:nvSpPr>
        <p:spPr>
          <a:xfrm>
            <a:off x="2763682" y="2974471"/>
            <a:ext cx="44935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absatz0:ABSATZ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A778E62-A203-690B-4836-8D96FBB305EA}"/>
              </a:ext>
            </a:extLst>
          </p:cNvPr>
          <p:cNvSpPr txBox="1"/>
          <p:nvPr/>
        </p:nvSpPr>
        <p:spPr>
          <a:xfrm>
            <a:off x="2763682" y="3682357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links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5 cm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1.</a:t>
            </a:r>
          </a:p>
          <a:p>
            <a:endParaRPr lang="de-DE" sz="24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5870EFF-B813-358D-B758-C39F9854C6A6}"/>
              </a:ext>
            </a:extLst>
          </p:cNvPr>
          <p:cNvCxnSpPr/>
          <p:nvPr/>
        </p:nvCxnSpPr>
        <p:spPr>
          <a:xfrm>
            <a:off x="2563654" y="3578087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269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9833-1342-3965-5DEE-DD7BF0A08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A5DAB19-A711-93A1-4269-E45AAF776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343BB2C-BD24-B287-34E9-9C9EF7393E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CF374C73-1B08-692D-2267-90996EE85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2AA4F1B-362B-9EA3-92ED-E9F79EB6BE6B}"/>
              </a:ext>
            </a:extLst>
          </p:cNvPr>
          <p:cNvSpPr txBox="1"/>
          <p:nvPr/>
        </p:nvSpPr>
        <p:spPr>
          <a:xfrm>
            <a:off x="599768" y="1061884"/>
            <a:ext cx="11168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Überlegt</a:t>
            </a:r>
            <a:r>
              <a:rPr lang="de-DE" sz="3200" dirty="0"/>
              <a:t> euch mögliche Attributwerte.</a:t>
            </a:r>
          </a:p>
          <a:p>
            <a:r>
              <a:rPr lang="de-DE" sz="3200" b="1" dirty="0"/>
              <a:t>Ergänze</a:t>
            </a:r>
            <a:r>
              <a:rPr lang="de-DE" sz="3200" dirty="0"/>
              <a:t> die Objektkarte der Klasse ABSATZ.</a:t>
            </a:r>
          </a:p>
        </p:txBody>
      </p:sp>
      <p:pic>
        <p:nvPicPr>
          <p:cNvPr id="4" name="Grafik 3" descr="Chat Silhouette">
            <a:extLst>
              <a:ext uri="{FF2B5EF4-FFF2-40B4-BE49-F238E27FC236}">
                <a16:creationId xmlns:a16="http://schemas.microsoft.com/office/drawing/2014/main" id="{547E1C1E-6DBF-94BE-B942-9031DB729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5467" y="704910"/>
            <a:ext cx="2246671" cy="224667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F283596-CBA5-26E7-7CDC-70FF48569CBB}"/>
              </a:ext>
            </a:extLst>
          </p:cNvPr>
          <p:cNvSpPr txBox="1"/>
          <p:nvPr/>
        </p:nvSpPr>
        <p:spPr>
          <a:xfrm>
            <a:off x="9549259" y="2454408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 min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2BC8C27-B7F1-0C6D-9ED8-ECCC516F8018}"/>
              </a:ext>
            </a:extLst>
          </p:cNvPr>
          <p:cNvSpPr/>
          <p:nvPr/>
        </p:nvSpPr>
        <p:spPr>
          <a:xfrm>
            <a:off x="2563654" y="2844701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9C5F8E3-FC4B-DEE7-33F0-FA059B88DE13}"/>
              </a:ext>
            </a:extLst>
          </p:cNvPr>
          <p:cNvSpPr txBox="1"/>
          <p:nvPr/>
        </p:nvSpPr>
        <p:spPr>
          <a:xfrm>
            <a:off x="2763682" y="2974471"/>
            <a:ext cx="44935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absatz0:ABSATZ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A6C4ED5-A5D3-0FB0-526B-A05FAAA5321D}"/>
              </a:ext>
            </a:extLst>
          </p:cNvPr>
          <p:cNvSpPr txBox="1"/>
          <p:nvPr/>
        </p:nvSpPr>
        <p:spPr>
          <a:xfrm>
            <a:off x="2763682" y="3682357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links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einzug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 cm</a:t>
            </a:r>
          </a:p>
          <a:p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______________ = 1.</a:t>
            </a:r>
          </a:p>
          <a:p>
            <a:endParaRPr lang="de-DE" sz="24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9CA7064-2E11-3E26-7175-01BFD0529072}"/>
              </a:ext>
            </a:extLst>
          </p:cNvPr>
          <p:cNvCxnSpPr/>
          <p:nvPr/>
        </p:nvCxnSpPr>
        <p:spPr>
          <a:xfrm>
            <a:off x="2563654" y="3578087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701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4A01-A63A-5818-8F80-77D07DF4F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1E31546-CDE1-1232-B32C-40BF38030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BCEF086-DEA6-B2FA-3419-E0F0FDC01E1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Die Klasse ABSATZ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BEF575D-084A-43BD-C89F-67BFB6E1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F6DAB72-3C45-E004-DD53-5A00E4468E64}"/>
              </a:ext>
            </a:extLst>
          </p:cNvPr>
          <p:cNvSpPr txBox="1"/>
          <p:nvPr/>
        </p:nvSpPr>
        <p:spPr>
          <a:xfrm>
            <a:off x="599768" y="1061884"/>
            <a:ext cx="11168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Überlegt</a:t>
            </a:r>
            <a:r>
              <a:rPr lang="de-DE" sz="3200" dirty="0"/>
              <a:t> euch mögliche Attributwerte.</a:t>
            </a:r>
          </a:p>
          <a:p>
            <a:r>
              <a:rPr lang="de-DE" sz="3200" b="1" dirty="0"/>
              <a:t>Ergänze</a:t>
            </a:r>
            <a:r>
              <a:rPr lang="de-DE" sz="3200" dirty="0"/>
              <a:t> die Objektkarte der Klasse ABSATZ.</a:t>
            </a:r>
          </a:p>
        </p:txBody>
      </p:sp>
      <p:pic>
        <p:nvPicPr>
          <p:cNvPr id="4" name="Grafik 3" descr="Chat Silhouette">
            <a:extLst>
              <a:ext uri="{FF2B5EF4-FFF2-40B4-BE49-F238E27FC236}">
                <a16:creationId xmlns:a16="http://schemas.microsoft.com/office/drawing/2014/main" id="{DCF0A54A-E612-0B25-F0B3-2B843C299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5467" y="704910"/>
            <a:ext cx="2246671" cy="224667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7D98956-9004-806B-E4E3-714EE84A8A92}"/>
              </a:ext>
            </a:extLst>
          </p:cNvPr>
          <p:cNvSpPr txBox="1"/>
          <p:nvPr/>
        </p:nvSpPr>
        <p:spPr>
          <a:xfrm>
            <a:off x="9549259" y="2454408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2 min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077D128-02F1-50EF-F75B-A54B794B25C8}"/>
              </a:ext>
            </a:extLst>
          </p:cNvPr>
          <p:cNvSpPr/>
          <p:nvPr/>
        </p:nvSpPr>
        <p:spPr>
          <a:xfrm>
            <a:off x="2563654" y="2844701"/>
            <a:ext cx="5525729" cy="33905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967D390-38AC-FEE8-839E-B5C38910D6DA}"/>
              </a:ext>
            </a:extLst>
          </p:cNvPr>
          <p:cNvSpPr txBox="1"/>
          <p:nvPr/>
        </p:nvSpPr>
        <p:spPr>
          <a:xfrm>
            <a:off x="2763682" y="2974471"/>
            <a:ext cx="44935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absatz0:ABSATZ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9FB7F1E-972E-19B8-EFED-5B64AD4B9930}"/>
              </a:ext>
            </a:extLst>
          </p:cNvPr>
          <p:cNvSpPr txBox="1"/>
          <p:nvPr/>
        </p:nvSpPr>
        <p:spPr>
          <a:xfrm>
            <a:off x="2763682" y="3682357"/>
            <a:ext cx="4452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ausrichtung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links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einzug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5 cm</a:t>
            </a:r>
          </a:p>
          <a:p>
            <a:r>
              <a:rPr lang="de-DE" sz="24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nummerierung</a:t>
            </a:r>
            <a:r>
              <a:rPr lang="de-DE" sz="24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1.</a:t>
            </a:r>
          </a:p>
          <a:p>
            <a:endParaRPr lang="de-DE" sz="24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3C912F-8BFD-DDAB-DDD7-900AB4C0359D}"/>
              </a:ext>
            </a:extLst>
          </p:cNvPr>
          <p:cNvCxnSpPr/>
          <p:nvPr/>
        </p:nvCxnSpPr>
        <p:spPr>
          <a:xfrm>
            <a:off x="2563654" y="3578087"/>
            <a:ext cx="552572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69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5B9C3-03F8-7A2C-92C9-BA732F0A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70B113A2-2E8B-060C-2C73-DE30F97D0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EC8CB4DE-66E2-48B4-81B4-7851571502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Klasse TEXTDOKUMENT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20EF94EF-B316-B9E6-EB3E-A6442F5AB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1E79769-2753-1F0A-D1F7-5644F86D9CBC}"/>
              </a:ext>
            </a:extLst>
          </p:cNvPr>
          <p:cNvSpPr txBox="1"/>
          <p:nvPr/>
        </p:nvSpPr>
        <p:spPr>
          <a:xfrm>
            <a:off x="599768" y="1061884"/>
            <a:ext cx="1107871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/>
              <a:t>Untersuche</a:t>
            </a:r>
            <a:r>
              <a:rPr lang="de-DE" sz="3200" dirty="0"/>
              <a:t> das Objekt </a:t>
            </a:r>
            <a:r>
              <a:rPr lang="de-DE" sz="3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Absatz.docx </a:t>
            </a:r>
            <a:r>
              <a:rPr lang="de-DE" sz="3200" dirty="0"/>
              <a:t>der Klasse TEXTDOKUMENT.</a:t>
            </a:r>
          </a:p>
          <a:p>
            <a:endParaRPr lang="de-DE" sz="3200" dirty="0"/>
          </a:p>
          <a:p>
            <a:endParaRPr lang="de-DE" sz="3200" dirty="0"/>
          </a:p>
          <a:p>
            <a:r>
              <a:rPr lang="de-DE" sz="3200" b="1" dirty="0"/>
              <a:t>Finde</a:t>
            </a:r>
            <a:r>
              <a:rPr lang="de-DE" sz="3200" dirty="0"/>
              <a:t> Attribute und Attributwerte für die Klasse TEXTDOKUMENT.</a:t>
            </a:r>
          </a:p>
          <a:p>
            <a:endParaRPr lang="de-DE" sz="3200" dirty="0"/>
          </a:p>
          <a:p>
            <a:r>
              <a:rPr lang="de-DE" sz="3200" b="1" dirty="0"/>
              <a:t>Ergänze</a:t>
            </a:r>
            <a:r>
              <a:rPr lang="de-DE" sz="3200" dirty="0"/>
              <a:t> die Objektkarte</a:t>
            </a:r>
          </a:p>
          <a:p>
            <a:r>
              <a:rPr lang="de-DE" sz="3200" dirty="0"/>
              <a:t>und Klassekarte auf dem</a:t>
            </a:r>
          </a:p>
          <a:p>
            <a:r>
              <a:rPr lang="de-DE" sz="3200" dirty="0"/>
              <a:t>Arbeitsblatt AB2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F0D9EC-5D17-042E-08EC-D236A4A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784" y="3570263"/>
            <a:ext cx="6059868" cy="327025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DE9D07-78DD-D687-D1B1-D96DC9497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38" y="2198734"/>
            <a:ext cx="5799323" cy="60965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C77F410-B393-31C3-9F60-A4D39A73F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0245" y="152400"/>
            <a:ext cx="2626232" cy="4529698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66335A86-A7FD-7318-2F75-A29BC3160F98}"/>
              </a:ext>
            </a:extLst>
          </p:cNvPr>
          <p:cNvSpPr/>
          <p:nvPr/>
        </p:nvSpPr>
        <p:spPr>
          <a:xfrm rot="2371235">
            <a:off x="9282185" y="3974882"/>
            <a:ext cx="904568" cy="4031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16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8" grpId="1" animBg="1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Breitbild</PresentationFormat>
  <Paragraphs>112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Aptos</vt:lpstr>
      <vt:lpstr>Arial</vt:lpstr>
      <vt:lpstr>Courier New</vt:lpstr>
      <vt:lpstr>Times New Roman</vt:lpstr>
      <vt:lpstr>Standarddesign</vt:lpstr>
      <vt:lpstr>Ausprobieren</vt:lpstr>
      <vt:lpstr>Konzentrationspunkte</vt:lpstr>
      <vt:lpstr>Wiederholung: Objektkarte</vt:lpstr>
      <vt:lpstr>Wiederholung: Objektkarte</vt:lpstr>
      <vt:lpstr>Wiederholung: Objektkarte</vt:lpstr>
      <vt:lpstr>Wiederholung: Objektkarte</vt:lpstr>
      <vt:lpstr>Wiederholung: Objektkarte</vt:lpstr>
      <vt:lpstr>Wiederholung: Objektkarte</vt:lpstr>
      <vt:lpstr>Wiederholung: Klassenkarte</vt:lpstr>
      <vt:lpstr>Die Klasse ABSATZ</vt:lpstr>
      <vt:lpstr>Die Klasse ABSATZ</vt:lpstr>
      <vt:lpstr>Die Klasse ABSATZ</vt:lpstr>
      <vt:lpstr>Die Klasse ABSATZ</vt:lpstr>
      <vt:lpstr>Die Klasse ABSATZ</vt:lpstr>
      <vt:lpstr>Die Klasse ABSATZ</vt:lpstr>
      <vt:lpstr>Klasse TEXTDOKUMENT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280</cp:revision>
  <dcterms:created xsi:type="dcterms:W3CDTF">2024-12-17T13:39:15Z</dcterms:created>
  <dcterms:modified xsi:type="dcterms:W3CDTF">2026-03-23T09:14:24Z</dcterms:modified>
</cp:coreProperties>
</file>