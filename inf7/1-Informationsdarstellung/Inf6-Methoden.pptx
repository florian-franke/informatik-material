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416" r:id="rId2"/>
    <p:sldId id="435" r:id="rId3"/>
    <p:sldId id="436" r:id="rId4"/>
    <p:sldId id="428" r:id="rId5"/>
    <p:sldId id="441" r:id="rId6"/>
    <p:sldId id="442" r:id="rId7"/>
    <p:sldId id="440" r:id="rId8"/>
    <p:sldId id="429" r:id="rId9"/>
    <p:sldId id="438" r:id="rId10"/>
    <p:sldId id="439" r:id="rId11"/>
    <p:sldId id="420" r:id="rId12"/>
    <p:sldId id="437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125" autoAdjust="0"/>
  </p:normalViewPr>
  <p:slideViewPr>
    <p:cSldViewPr snapToGrid="0">
      <p:cViewPr varScale="1">
        <p:scale>
          <a:sx n="77" d="100"/>
          <a:sy n="77" d="100"/>
        </p:scale>
        <p:origin x="912" y="10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71800" cy="458788"/>
          </a:xfrm>
          <a:prstGeom prst="rect">
            <a:avLst/>
          </a:prstGeom>
        </p:spPr>
        <p:txBody>
          <a:bodyPr vert="horz" lIns="91425" tIns="45713" rIns="91425" bIns="45713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4" y="1"/>
            <a:ext cx="2971800" cy="458788"/>
          </a:xfrm>
          <a:prstGeom prst="rect">
            <a:avLst/>
          </a:prstGeom>
        </p:spPr>
        <p:txBody>
          <a:bodyPr vert="horz" lIns="91425" tIns="45713" rIns="91425" bIns="45713" rtlCol="0"/>
          <a:lstStyle>
            <a:lvl1pPr algn="r">
              <a:defRPr sz="1200"/>
            </a:lvl1pPr>
          </a:lstStyle>
          <a:p>
            <a:fld id="{2214FC7C-4090-4DE3-B7A6-823389B1DB10}" type="datetimeFigureOut">
              <a:rPr lang="de-DE" smtClean="0"/>
              <a:t>14.06.2026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5" tIns="45713" rIns="91425" bIns="45713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1"/>
            <a:ext cx="5486400" cy="3600450"/>
          </a:xfrm>
          <a:prstGeom prst="rect">
            <a:avLst/>
          </a:prstGeom>
        </p:spPr>
        <p:txBody>
          <a:bodyPr vert="horz" lIns="91425" tIns="45713" rIns="91425" bIns="45713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1" y="8685213"/>
            <a:ext cx="2971800" cy="458787"/>
          </a:xfrm>
          <a:prstGeom prst="rect">
            <a:avLst/>
          </a:prstGeom>
        </p:spPr>
        <p:txBody>
          <a:bodyPr vert="horz" lIns="91425" tIns="45713" rIns="91425" bIns="45713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4" y="8685213"/>
            <a:ext cx="2971800" cy="458787"/>
          </a:xfrm>
          <a:prstGeom prst="rect">
            <a:avLst/>
          </a:prstGeom>
        </p:spPr>
        <p:txBody>
          <a:bodyPr vert="horz" lIns="91425" tIns="45713" rIns="91425" bIns="45713" rtlCol="0" anchor="b"/>
          <a:lstStyle>
            <a:lvl1pPr algn="r">
              <a:defRPr sz="1200"/>
            </a:lvl1pPr>
          </a:lstStyle>
          <a:p>
            <a:fld id="{440C4371-8A94-497C-981A-5985C1B3E1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3439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9D955-DF9D-41CC-8346-A66ABF961EC2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967101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13D6CF-C951-4233-8C05-FC2B7D27C8E5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491190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96D5AE-7254-4A0E-BF27-8ACCF86131F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340038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2D9C1-8307-48E2-95E3-5C299A4B6B8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190669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74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A21E99-019C-4610-8E89-15627F058E74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897140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DCD810-417C-4FC0-911C-8A532555A5F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367788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F58B3-F613-4188-ABD5-75C2EFD6034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02602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7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7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F907C-0B38-4B04-B99A-47828357F1E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750839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CB12EC-29C9-4953-96D2-AC1247C0411B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97380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2B2177-6598-49A4-A093-FCDB8A1488ED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79142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F8BC58-F9EE-4EF4-8BA7-73D1623D7F6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7831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99FF"/>
            </a:gs>
            <a:gs pos="100000">
              <a:srgbClr val="C9E9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die Formate des Vorlagentextes zu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9CF637A9-2672-485D-BB5A-0633926A8C3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696063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Char char="•"/>
        <a:defRPr sz="4267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Char char="–"/>
        <a:defRPr sz="3733">
          <a:solidFill>
            <a:schemeClr val="tx1"/>
          </a:solidFill>
          <a:latin typeface="+mn-lt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Char char="–"/>
        <a:defRPr sz="2667">
          <a:solidFill>
            <a:schemeClr val="tx1"/>
          </a:solidFill>
          <a:latin typeface="+mn-lt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5pPr>
      <a:lvl6pPr marL="335271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6pPr>
      <a:lvl7pPr marL="3962301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7pPr>
      <a:lvl8pPr marL="457188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8pPr>
      <a:lvl9pPr marL="5181470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51EA2-0065-5B09-6442-B917CF2CC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FE71D892-7C0C-10A6-E08A-A5E381D52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BB335E9D-88FB-9641-C4AF-CD2BF7558AA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Verschiedene Objekte der Klasse Ring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BD7FDFED-DD31-8323-9CEA-C19B3D403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9EB7FC1-4B02-9512-A269-F1C6BB840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965" y="762000"/>
            <a:ext cx="7449099" cy="4066649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4AE421FD-85C2-F3F7-1D1F-E2D66375E1EA}"/>
              </a:ext>
            </a:extLst>
          </p:cNvPr>
          <p:cNvSpPr txBox="1"/>
          <p:nvPr/>
        </p:nvSpPr>
        <p:spPr>
          <a:xfrm>
            <a:off x="249936" y="871831"/>
            <a:ext cx="3886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Die verschiedenen Ringe sind</a:t>
            </a:r>
          </a:p>
          <a:p>
            <a:r>
              <a:rPr lang="de-DE" sz="3600" dirty="0"/>
              <a:t>_____________ der _____________ RING.</a:t>
            </a: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E9BB1B6D-DF57-51A1-8386-9B746E3550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85960"/>
              </p:ext>
            </p:extLst>
          </p:nvPr>
        </p:nvGraphicFramePr>
        <p:xfrm>
          <a:off x="365083" y="3734153"/>
          <a:ext cx="3225800" cy="926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5800">
                  <a:extLst>
                    <a:ext uri="{9D8B030D-6E8A-4147-A177-3AD203B41FA5}">
                      <a16:colId xmlns:a16="http://schemas.microsoft.com/office/drawing/2014/main" val="3523515851"/>
                    </a:ext>
                  </a:extLst>
                </a:gridCol>
              </a:tblGrid>
              <a:tr h="463127">
                <a:tc>
                  <a:txBody>
                    <a:bodyPr/>
                    <a:lstStyle/>
                    <a:p>
                      <a:r>
                        <a:rPr lang="de-DE" dirty="0"/>
                        <a:t>Lösungswörter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999324"/>
                  </a:ext>
                </a:extLst>
              </a:tr>
              <a:tr h="463127">
                <a:tc>
                  <a:txBody>
                    <a:bodyPr/>
                    <a:lstStyle/>
                    <a:p>
                      <a:r>
                        <a:rPr lang="de-DE" dirty="0"/>
                        <a:t>Klasse            Objekte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143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2680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0C60B-D258-F74F-26A7-EC827A43B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CEFDCC8A-D551-C3E3-EB2F-036F0A5E2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30ABAFE0-EF56-63D6-3734-46EC2CFEFCB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Verschiedene Objekte der Klasse Ring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66D281D6-B5BB-AD52-9E6A-332C80A2C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0A2D2C6-BC16-4643-96C0-C1F12BA5A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965" y="762000"/>
            <a:ext cx="7449099" cy="4066649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8CAF0B24-EADC-007A-5803-FA12782930BF}"/>
              </a:ext>
            </a:extLst>
          </p:cNvPr>
          <p:cNvSpPr txBox="1"/>
          <p:nvPr/>
        </p:nvSpPr>
        <p:spPr>
          <a:xfrm>
            <a:off x="249936" y="871831"/>
            <a:ext cx="3886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Die verschiedenen Ringe sind</a:t>
            </a:r>
          </a:p>
          <a:p>
            <a:r>
              <a:rPr lang="de-DE" sz="3600" dirty="0">
                <a:solidFill>
                  <a:srgbClr val="FF0000"/>
                </a:solidFill>
              </a:rPr>
              <a:t>Objekte</a:t>
            </a:r>
            <a:r>
              <a:rPr lang="de-DE" sz="3600" dirty="0"/>
              <a:t> der</a:t>
            </a:r>
          </a:p>
          <a:p>
            <a:r>
              <a:rPr lang="de-DE" sz="3600" dirty="0">
                <a:solidFill>
                  <a:srgbClr val="FF0000"/>
                </a:solidFill>
              </a:rPr>
              <a:t>Klasse</a:t>
            </a:r>
            <a:r>
              <a:rPr lang="de-DE" sz="3600" dirty="0"/>
              <a:t> RING.</a:t>
            </a: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EDCB4654-6A60-2270-A63E-EDE71686930B}"/>
              </a:ext>
            </a:extLst>
          </p:cNvPr>
          <p:cNvGraphicFramePr>
            <a:graphicFrameLocks noGrp="1"/>
          </p:cNvGraphicFramePr>
          <p:nvPr/>
        </p:nvGraphicFramePr>
        <p:xfrm>
          <a:off x="365083" y="3734153"/>
          <a:ext cx="3225800" cy="926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5800">
                  <a:extLst>
                    <a:ext uri="{9D8B030D-6E8A-4147-A177-3AD203B41FA5}">
                      <a16:colId xmlns:a16="http://schemas.microsoft.com/office/drawing/2014/main" val="3523515851"/>
                    </a:ext>
                  </a:extLst>
                </a:gridCol>
              </a:tblGrid>
              <a:tr h="463127">
                <a:tc>
                  <a:txBody>
                    <a:bodyPr/>
                    <a:lstStyle/>
                    <a:p>
                      <a:r>
                        <a:rPr lang="de-DE" dirty="0"/>
                        <a:t>Lösungswörter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999324"/>
                  </a:ext>
                </a:extLst>
              </a:tr>
              <a:tr h="463127">
                <a:tc>
                  <a:txBody>
                    <a:bodyPr/>
                    <a:lstStyle/>
                    <a:p>
                      <a:r>
                        <a:rPr lang="de-DE" dirty="0"/>
                        <a:t>Klasse            Objekte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143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3479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A4006-73FF-B265-2FFC-C01785F8D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4D42EDEE-3653-CE0C-1C54-82E5940DB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FBF8A51B-3C4A-24A2-5B55-31543612FE0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Verschiedene Objekte der Klasse Ring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42ACE924-8E32-D6A0-796D-D62425A17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D2B2A5F-C348-0A14-CBF4-A64B45E46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965" y="762000"/>
            <a:ext cx="7449099" cy="4066649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600E49B5-E1EE-534B-D073-AACAA72B3F53}"/>
              </a:ext>
            </a:extLst>
          </p:cNvPr>
          <p:cNvSpPr txBox="1"/>
          <p:nvPr/>
        </p:nvSpPr>
        <p:spPr>
          <a:xfrm>
            <a:off x="249936" y="871831"/>
            <a:ext cx="3886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Die verschiedenen Ringe sind</a:t>
            </a:r>
          </a:p>
          <a:p>
            <a:r>
              <a:rPr lang="de-DE" sz="3600" dirty="0">
                <a:solidFill>
                  <a:srgbClr val="FF0000"/>
                </a:solidFill>
              </a:rPr>
              <a:t>Objekte</a:t>
            </a:r>
            <a:r>
              <a:rPr lang="de-DE" sz="3600" dirty="0"/>
              <a:t> der</a:t>
            </a:r>
          </a:p>
          <a:p>
            <a:r>
              <a:rPr lang="de-DE" sz="3600" dirty="0">
                <a:solidFill>
                  <a:srgbClr val="FF0000"/>
                </a:solidFill>
              </a:rPr>
              <a:t>Klasse</a:t>
            </a:r>
            <a:r>
              <a:rPr lang="de-DE" sz="3600" dirty="0"/>
              <a:t> RING.</a:t>
            </a: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A8E505A6-4854-1FAB-8E56-213B57FB20EF}"/>
              </a:ext>
            </a:extLst>
          </p:cNvPr>
          <p:cNvGraphicFramePr>
            <a:graphicFrameLocks noGrp="1"/>
          </p:cNvGraphicFramePr>
          <p:nvPr/>
        </p:nvGraphicFramePr>
        <p:xfrm>
          <a:off x="365083" y="3734153"/>
          <a:ext cx="3225800" cy="926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5800">
                  <a:extLst>
                    <a:ext uri="{9D8B030D-6E8A-4147-A177-3AD203B41FA5}">
                      <a16:colId xmlns:a16="http://schemas.microsoft.com/office/drawing/2014/main" val="3523515851"/>
                    </a:ext>
                  </a:extLst>
                </a:gridCol>
              </a:tblGrid>
              <a:tr h="463127">
                <a:tc>
                  <a:txBody>
                    <a:bodyPr/>
                    <a:lstStyle/>
                    <a:p>
                      <a:r>
                        <a:rPr lang="de-DE" dirty="0"/>
                        <a:t>Lösungswörter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999324"/>
                  </a:ext>
                </a:extLst>
              </a:tr>
              <a:tr h="463127">
                <a:tc>
                  <a:txBody>
                    <a:bodyPr/>
                    <a:lstStyle/>
                    <a:p>
                      <a:r>
                        <a:rPr lang="de-DE" dirty="0"/>
                        <a:t>Klasse            Objekte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143702"/>
                  </a:ext>
                </a:extLst>
              </a:tr>
            </a:tbl>
          </a:graphicData>
        </a:graphic>
      </p:graphicFrame>
      <p:sp>
        <p:nvSpPr>
          <p:cNvPr id="4" name="Textfeld 3">
            <a:extLst>
              <a:ext uri="{FF2B5EF4-FFF2-40B4-BE49-F238E27FC236}">
                <a16:creationId xmlns:a16="http://schemas.microsoft.com/office/drawing/2014/main" id="{9DBB6F4C-D75B-4ED1-FEE4-1AB8872B0802}"/>
              </a:ext>
            </a:extLst>
          </p:cNvPr>
          <p:cNvSpPr txBox="1"/>
          <p:nvPr/>
        </p:nvSpPr>
        <p:spPr>
          <a:xfrm>
            <a:off x="448056" y="5238789"/>
            <a:ext cx="11420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Überlege dir drei Beispiele für Klassen und beispielhafte Objekte, die sich hier in deinem Klassenzimmer befinden.</a:t>
            </a:r>
          </a:p>
        </p:txBody>
      </p:sp>
    </p:spTree>
    <p:extLst>
      <p:ext uri="{BB962C8B-B14F-4D97-AF65-F5344CB8AC3E}">
        <p14:creationId xmlns:p14="http://schemas.microsoft.com/office/powerpoint/2010/main" val="2659767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7B689-239E-6B85-1DCA-A24663A13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6E07EAF1-DAF6-2923-C7EC-DC6181A02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AE6C2B78-4404-71A3-CBF5-C3160E4C308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1488" y="117348"/>
            <a:ext cx="8456168" cy="374904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Eine Sonne in einem Zeichenprogramm zeichnen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A0D7DCAE-9E49-8538-F58C-75E1F2CC9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4B35741-73C2-771B-5DC8-22003E514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048" y="955371"/>
            <a:ext cx="4112697" cy="3609101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F5098CFE-E1C6-F92A-DCFF-75B93B602E62}"/>
              </a:ext>
            </a:extLst>
          </p:cNvPr>
          <p:cNvSpPr txBox="1"/>
          <p:nvPr/>
        </p:nvSpPr>
        <p:spPr>
          <a:xfrm>
            <a:off x="347473" y="1408176"/>
            <a:ext cx="650138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Nennt Bezeichner für die einzelnen Objekte in diesem Bild.</a:t>
            </a:r>
          </a:p>
          <a:p>
            <a:endParaRPr lang="de-DE" sz="2800" dirty="0"/>
          </a:p>
          <a:p>
            <a:endParaRPr lang="de-DE" sz="2800" dirty="0"/>
          </a:p>
          <a:p>
            <a:r>
              <a:rPr lang="de-DE" sz="2800" dirty="0"/>
              <a:t>Beispiel für 5 Objekte in diesem Bild:</a:t>
            </a:r>
          </a:p>
          <a:p>
            <a:r>
              <a:rPr lang="de-DE" sz="2800" dirty="0" err="1"/>
              <a:t>strahlLinksOben</a:t>
            </a:r>
            <a:endParaRPr lang="de-DE" sz="2800" dirty="0"/>
          </a:p>
          <a:p>
            <a:r>
              <a:rPr lang="de-DE" sz="2800" dirty="0" err="1"/>
              <a:t>strahlLinksUnten</a:t>
            </a:r>
            <a:endParaRPr lang="de-DE" sz="2800" dirty="0"/>
          </a:p>
          <a:p>
            <a:r>
              <a:rPr lang="de-DE" sz="2800" dirty="0" err="1"/>
              <a:t>strahlRechtsOben</a:t>
            </a:r>
            <a:endParaRPr lang="de-DE" sz="2800" dirty="0"/>
          </a:p>
          <a:p>
            <a:r>
              <a:rPr lang="de-DE" sz="2800" dirty="0" err="1"/>
              <a:t>strahlRechtsUnten</a:t>
            </a:r>
            <a:endParaRPr lang="de-DE" sz="2800" dirty="0"/>
          </a:p>
          <a:p>
            <a:r>
              <a:rPr lang="de-DE" sz="2800" dirty="0" err="1"/>
              <a:t>sonnenMitte</a:t>
            </a: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1214647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F9C4A-28AB-4624-B7A8-9AB05E093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DE601428-FA1D-70E8-E808-31E8E1726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F3C613DB-AD47-7DC4-8A87-BEF9DF63E82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1488" y="117348"/>
            <a:ext cx="8456168" cy="374904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Eine Sonne in einem Zeichenprogramm zeichnen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D039B0C7-02AA-BB42-B63F-0A8ACD59A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7CB04C9-D74E-1CD3-91B8-1E5F90F56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048" y="955371"/>
            <a:ext cx="4112697" cy="3609101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359C222D-B5A0-0482-9746-DE735D332951}"/>
              </a:ext>
            </a:extLst>
          </p:cNvPr>
          <p:cNvSpPr txBox="1"/>
          <p:nvPr/>
        </p:nvSpPr>
        <p:spPr>
          <a:xfrm>
            <a:off x="347473" y="1408176"/>
            <a:ext cx="650138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de-DE" sz="2800" dirty="0"/>
              <a:t>Wähle zwei verschiedenartige Objekte aus der Abbildung aus. Überlege dir</a:t>
            </a:r>
            <a:r>
              <a:rPr lang="de-DE" sz="2800" b="1" dirty="0"/>
              <a:t> </a:t>
            </a:r>
            <a:r>
              <a:rPr lang="de-DE" sz="2800" dirty="0"/>
              <a:t>für jedes Objekt einen </a:t>
            </a:r>
            <a:r>
              <a:rPr lang="de-DE" sz="2800" b="1" dirty="0"/>
              <a:t>sinnvollen Bezeichner</a:t>
            </a:r>
            <a:r>
              <a:rPr lang="de-DE" sz="2800" dirty="0"/>
              <a:t> und passende Attributwerte zu den jeweiligen Attributen.</a:t>
            </a:r>
          </a:p>
          <a:p>
            <a:pPr lvl="0"/>
            <a:endParaRPr lang="de-DE" sz="2800" dirty="0"/>
          </a:p>
          <a:p>
            <a:r>
              <a:rPr lang="de-DE" sz="2800" b="1" dirty="0"/>
              <a:t>Notiere </a:t>
            </a:r>
            <a:r>
              <a:rPr lang="de-DE" sz="2800" dirty="0"/>
              <a:t>diese </a:t>
            </a:r>
            <a:r>
              <a:rPr lang="de-DE" sz="2800" b="1" dirty="0"/>
              <a:t>in Punktnotation</a:t>
            </a:r>
            <a:r>
              <a:rPr lang="de-DE" sz="2800" dirty="0"/>
              <a:t>.</a:t>
            </a:r>
          </a:p>
          <a:p>
            <a:endParaRPr lang="de-DE" sz="2800" dirty="0"/>
          </a:p>
          <a:p>
            <a:r>
              <a:rPr lang="de-DE" sz="2800" dirty="0" err="1"/>
              <a:t>strahlLinksOben.farbe</a:t>
            </a:r>
            <a:r>
              <a:rPr lang="de-DE" sz="2800" dirty="0"/>
              <a:t> = gelb</a:t>
            </a:r>
          </a:p>
          <a:p>
            <a:r>
              <a:rPr lang="de-DE" sz="2800" dirty="0" err="1"/>
              <a:t>sonnenMitte.position</a:t>
            </a:r>
            <a:r>
              <a:rPr lang="de-DE" sz="2800" dirty="0"/>
              <a:t> = Mitte</a:t>
            </a:r>
          </a:p>
          <a:p>
            <a:r>
              <a:rPr lang="de-DE" sz="2800" dirty="0" err="1"/>
              <a:t>sonnenMitte.radius</a:t>
            </a:r>
            <a:r>
              <a:rPr lang="de-DE" sz="2800" dirty="0"/>
              <a:t> = 5cm</a:t>
            </a:r>
          </a:p>
        </p:txBody>
      </p:sp>
    </p:spTree>
    <p:extLst>
      <p:ext uri="{BB962C8B-B14F-4D97-AF65-F5344CB8AC3E}">
        <p14:creationId xmlns:p14="http://schemas.microsoft.com/office/powerpoint/2010/main" val="2854279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C67FB-0B5A-D9B9-FB64-DC56D9091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D9A242AB-037F-C834-23B6-B703FE9B1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47F44959-13CB-6296-BCE3-3457C8806B2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1488" y="117348"/>
            <a:ext cx="8456168" cy="374904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Objekte mit Methoden verändern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E23FD40B-C16A-C69B-22B1-1C41950DC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3D6A466-9B13-925F-932F-DB74955EA1C5}"/>
              </a:ext>
            </a:extLst>
          </p:cNvPr>
          <p:cNvSpPr txBox="1"/>
          <p:nvPr/>
        </p:nvSpPr>
        <p:spPr>
          <a:xfrm>
            <a:off x="221488" y="1307592"/>
            <a:ext cx="650138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de-DE" sz="2800" dirty="0"/>
              <a:t>Mit bestimmten Aktionen können Objekte verändert werden.</a:t>
            </a:r>
          </a:p>
          <a:p>
            <a:pPr lvl="0"/>
            <a:endParaRPr lang="de-DE" sz="2800" dirty="0"/>
          </a:p>
          <a:p>
            <a:pPr lvl="0"/>
            <a:r>
              <a:rPr lang="de-DE" sz="2800" dirty="0"/>
              <a:t>Diese Aktionen nennen wir Methoden.</a:t>
            </a:r>
          </a:p>
          <a:p>
            <a:pPr lvl="0"/>
            <a:endParaRPr lang="de-DE" sz="2800" dirty="0"/>
          </a:p>
          <a:p>
            <a:pPr lvl="0"/>
            <a:endParaRPr lang="de-DE" sz="2800" dirty="0"/>
          </a:p>
          <a:p>
            <a:pPr lvl="0"/>
            <a:r>
              <a:rPr lang="de-DE" sz="2800" dirty="0"/>
              <a:t>Der Kreis wurde ___________________.</a:t>
            </a:r>
          </a:p>
          <a:p>
            <a:pPr lvl="0"/>
            <a:endParaRPr lang="de-DE" sz="2800" dirty="0"/>
          </a:p>
          <a:p>
            <a:pPr lvl="0"/>
            <a:r>
              <a:rPr lang="de-DE" sz="2800" dirty="0"/>
              <a:t>Und zwar um den Faktor __________.</a:t>
            </a:r>
          </a:p>
          <a:p>
            <a:pPr lvl="0"/>
            <a:endParaRPr lang="de-DE" sz="2800" dirty="0"/>
          </a:p>
          <a:p>
            <a:pPr lvl="0"/>
            <a:endParaRPr lang="de-DE" sz="2800" dirty="0"/>
          </a:p>
          <a:p>
            <a:pPr lvl="0"/>
            <a:endParaRPr lang="de-DE" sz="2800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D275CDA-CBD7-7B15-1A6D-726E877B3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977" y="1195909"/>
            <a:ext cx="2467151" cy="250854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3EC4DC0-E5BD-236B-96E6-B6891AAC3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303" y="1195909"/>
            <a:ext cx="2500213" cy="2508547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2D88515D-F9D1-10BF-D72C-3D5E69425401}"/>
              </a:ext>
            </a:extLst>
          </p:cNvPr>
          <p:cNvSpPr txBox="1"/>
          <p:nvPr/>
        </p:nvSpPr>
        <p:spPr>
          <a:xfrm>
            <a:off x="260754" y="5473005"/>
            <a:ext cx="507288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de-DE" sz="2800" dirty="0"/>
              <a:t>In der Punktnotation kann der Kreis wie folgt verändert werden: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555908E-AFB3-1B57-25D8-7B3A0A0F967E}"/>
              </a:ext>
            </a:extLst>
          </p:cNvPr>
          <p:cNvSpPr txBox="1"/>
          <p:nvPr/>
        </p:nvSpPr>
        <p:spPr>
          <a:xfrm>
            <a:off x="5193145" y="6057780"/>
            <a:ext cx="6156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/>
              <a:t>__________________________________________________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56916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C8128-72B4-F38E-E1E2-F89BED09D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FAD41D26-6CD9-06A3-A91D-DFB25F7FD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B42F91E6-E34F-8355-237F-DF20CE17902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AB3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8035C05A-8337-42F5-C0E6-29DBF8CB3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9184804-6961-00B8-64A3-F65DAA59F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846" y="1352856"/>
            <a:ext cx="10659075" cy="2646187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9FC34699-9BD9-E2B8-F50A-FEA841FFEBAB}"/>
              </a:ext>
            </a:extLst>
          </p:cNvPr>
          <p:cNvSpPr txBox="1"/>
          <p:nvPr/>
        </p:nvSpPr>
        <p:spPr>
          <a:xfrm>
            <a:off x="2688336" y="2414339"/>
            <a:ext cx="12827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RINGE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4AB6EE5-7281-DBF8-E6AD-8A27139C8A04}"/>
              </a:ext>
            </a:extLst>
          </p:cNvPr>
          <p:cNvSpPr txBox="1"/>
          <p:nvPr/>
        </p:nvSpPr>
        <p:spPr>
          <a:xfrm>
            <a:off x="2717800" y="2945081"/>
            <a:ext cx="1741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DREIECK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2730A67-4409-BBEC-1CD9-20BC722B9F01}"/>
              </a:ext>
            </a:extLst>
          </p:cNvPr>
          <p:cNvSpPr txBox="1"/>
          <p:nvPr/>
        </p:nvSpPr>
        <p:spPr>
          <a:xfrm>
            <a:off x="2717800" y="3417522"/>
            <a:ext cx="12234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KREIS</a:t>
            </a:r>
          </a:p>
        </p:txBody>
      </p:sp>
    </p:spTree>
    <p:extLst>
      <p:ext uri="{BB962C8B-B14F-4D97-AF65-F5344CB8AC3E}">
        <p14:creationId xmlns:p14="http://schemas.microsoft.com/office/powerpoint/2010/main" val="1105580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74A22-B373-A4BB-3BE7-C3228355B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EE9E28F8-4790-757A-3220-90CDBD77F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3A4AEEE2-C392-E4BC-53B2-D88C585B6AE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AB3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90496907-79E3-769B-41FA-2DBDFBB34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351AD51-77AD-3F5F-03F1-2D1C482D3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700" y="825634"/>
            <a:ext cx="9655059" cy="520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368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18211-4887-BC4B-0665-3D425A94D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B6EA8A9A-B4B1-1AD3-8CA5-123F379B9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6891A9CE-C4BF-C550-FB8F-D8FF225ADAF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AB3 – Aufgabe 3 - Besprechung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016B9968-410B-BBE3-CC7E-E4F95C0AA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B1D3E5E-0255-5E0C-423A-4D91843CD5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75540" y="825634"/>
            <a:ext cx="8743379" cy="520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260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CE453-87F6-9B95-0898-B28255D9F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1D86AD9E-A9E4-FCBA-5088-DAE30FEFC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E5E1B5BC-8417-A283-026A-B6C4745CAE7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AB3 – Aufgabe 4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71AA6E5E-E6A0-904E-7466-68F7A32E9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9E09D7C-59A8-2684-BCCE-5500DE3A91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17989" y="825634"/>
            <a:ext cx="7054294" cy="587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286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217F1-2F35-044C-0C4F-9D4C00721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64F901B2-4874-29A6-5E94-2B7381F4E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8E9B2886-8185-0B4D-718B-C42297F774A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Wir lernen ein neues Programm kennen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18A28161-B368-F431-FA48-2A3F1B967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D4813C2-53E4-9B3C-F16E-9AB13DD27E72}"/>
              </a:ext>
            </a:extLst>
          </p:cNvPr>
          <p:cNvSpPr txBox="1"/>
          <p:nvPr/>
        </p:nvSpPr>
        <p:spPr>
          <a:xfrm>
            <a:off x="1925240" y="324444"/>
            <a:ext cx="5004896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9900" dirty="0"/>
              <a:t>EOS</a:t>
            </a:r>
          </a:p>
        </p:txBody>
      </p:sp>
      <p:pic>
        <p:nvPicPr>
          <p:cNvPr id="5" name="Grafik 4" descr="Ein Bild, das Farbigkeit, Screenshot, Grafiken, Grafikdesign enthält.&#10;&#10;KI-generierte Inhalte können fehlerhaft sein.">
            <a:extLst>
              <a:ext uri="{FF2B5EF4-FFF2-40B4-BE49-F238E27FC236}">
                <a16:creationId xmlns:a16="http://schemas.microsoft.com/office/drawing/2014/main" id="{4AEBC204-F257-2E40-F6D5-C003279802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736" y="883920"/>
            <a:ext cx="3194304" cy="3194304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67147785-F25F-7F75-6DD5-365BDC324B59}"/>
              </a:ext>
            </a:extLst>
          </p:cNvPr>
          <p:cNvSpPr txBox="1"/>
          <p:nvPr/>
        </p:nvSpPr>
        <p:spPr>
          <a:xfrm>
            <a:off x="425196" y="3651199"/>
            <a:ext cx="6688836" cy="253402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de-DE" sz="1800" dirty="0">
                <a:latin typeface="Arial" charset="0"/>
                <a:cs typeface="Times New Roman" pitchFamily="18" charset="0"/>
              </a:rPr>
              <a:t>Nutze den Befehl </a:t>
            </a:r>
            <a:r>
              <a:rPr lang="de-DE" sz="1800" b="1" dirty="0" err="1">
                <a:latin typeface="Arial" charset="0"/>
                <a:cs typeface="Times New Roman" pitchFamily="18" charset="0"/>
              </a:rPr>
              <a:t>objektname:KLASSENNAME</a:t>
            </a:r>
            <a:r>
              <a:rPr lang="de-DE" sz="1800" b="1" dirty="0">
                <a:latin typeface="Arial" charset="0"/>
                <a:cs typeface="Times New Roman" pitchFamily="18" charset="0"/>
              </a:rPr>
              <a:t> </a:t>
            </a:r>
            <a:r>
              <a:rPr lang="de-DE" sz="1800" dirty="0">
                <a:latin typeface="Arial" charset="0"/>
                <a:cs typeface="Times New Roman" pitchFamily="18" charset="0"/>
              </a:rPr>
              <a:t>(z.B. k1:KREIS) um ein Objekt zu erstellen.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de-DE" dirty="0">
                <a:latin typeface="Arial" charset="0"/>
                <a:cs typeface="Times New Roman" pitchFamily="18" charset="0"/>
              </a:rPr>
              <a:t>Mit Hilfe von Methoden können wir Objekte verändern.</a:t>
            </a:r>
          </a:p>
          <a:p>
            <a:pPr>
              <a:lnSpc>
                <a:spcPct val="150000"/>
              </a:lnSpc>
              <a:defRPr/>
            </a:pPr>
            <a:r>
              <a:rPr lang="de-DE" sz="1800" dirty="0">
                <a:latin typeface="Arial" charset="0"/>
                <a:cs typeface="Times New Roman" pitchFamily="18" charset="0"/>
              </a:rPr>
              <a:t>Wir rufen Methoden in Punktnotation wie folgt auf:</a:t>
            </a:r>
          </a:p>
          <a:p>
            <a:pPr>
              <a:lnSpc>
                <a:spcPct val="150000"/>
              </a:lnSpc>
              <a:defRPr/>
            </a:pPr>
            <a:r>
              <a:rPr lang="de-DE" dirty="0" err="1">
                <a:latin typeface="Arial" charset="0"/>
                <a:cs typeface="Times New Roman" pitchFamily="18" charset="0"/>
              </a:rPr>
              <a:t>o</a:t>
            </a:r>
            <a:r>
              <a:rPr lang="de-DE" sz="1800" dirty="0" err="1">
                <a:latin typeface="Arial" charset="0"/>
                <a:cs typeface="Times New Roman" pitchFamily="18" charset="0"/>
              </a:rPr>
              <a:t>bjektname.methodenname</a:t>
            </a:r>
            <a:r>
              <a:rPr lang="de-DE" sz="1800" dirty="0">
                <a:latin typeface="Arial" charset="0"/>
                <a:cs typeface="Times New Roman" pitchFamily="18" charset="0"/>
              </a:rPr>
              <a:t>(…), z.B. </a:t>
            </a:r>
            <a:r>
              <a:rPr lang="de-DE" sz="1800" b="1" dirty="0">
                <a:latin typeface="Arial" charset="0"/>
                <a:cs typeface="Times New Roman" pitchFamily="18" charset="0"/>
              </a:rPr>
              <a:t>k1.verschieben(-5, 0)</a:t>
            </a:r>
          </a:p>
          <a:p>
            <a:pPr>
              <a:lnSpc>
                <a:spcPct val="150000"/>
              </a:lnSpc>
              <a:defRPr/>
            </a:pPr>
            <a:endParaRPr lang="de-DE" sz="1800" dirty="0">
              <a:latin typeface="Arial" charset="0"/>
              <a:cs typeface="Times New Roman" pitchFamily="18" charset="0"/>
            </a:endParaRP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CE73167D-3494-A013-E905-EC84EAE312AC}"/>
              </a:ext>
            </a:extLst>
          </p:cNvPr>
          <p:cNvGrpSpPr/>
          <p:nvPr/>
        </p:nvGrpSpPr>
        <p:grpSpPr>
          <a:xfrm>
            <a:off x="7391146" y="4078224"/>
            <a:ext cx="4057142" cy="2674639"/>
            <a:chOff x="0" y="0"/>
            <a:chExt cx="1179871" cy="1190886"/>
          </a:xfrm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B267F7EA-093E-E848-A7C5-4304709CD3D2}"/>
                </a:ext>
              </a:extLst>
            </p:cNvPr>
            <p:cNvSpPr/>
            <p:nvPr/>
          </p:nvSpPr>
          <p:spPr>
            <a:xfrm>
              <a:off x="0" y="0"/>
              <a:ext cx="1179871" cy="25367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de-DE" sz="24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KREIS</a:t>
              </a:r>
              <a:endParaRPr lang="de-DE" sz="1100" dirty="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85ABAAF5-9330-2466-D40A-DD955E2C0468}"/>
                </a:ext>
              </a:extLst>
            </p:cNvPr>
            <p:cNvSpPr/>
            <p:nvPr/>
          </p:nvSpPr>
          <p:spPr>
            <a:xfrm>
              <a:off x="0" y="248239"/>
              <a:ext cx="1179871" cy="25367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de-DE" sz="110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99D77429-29A1-C31F-59F7-079241CE6E74}"/>
                </a:ext>
              </a:extLst>
            </p:cNvPr>
            <p:cNvSpPr/>
            <p:nvPr/>
          </p:nvSpPr>
          <p:spPr>
            <a:xfrm>
              <a:off x="0" y="502337"/>
              <a:ext cx="1179871" cy="68854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7000"/>
                </a:lnSpc>
                <a:spcAft>
                  <a:spcPts val="100"/>
                </a:spcAft>
                <a:buNone/>
              </a:pPr>
              <a:r>
                <a:rPr lang="de-DE" dirty="0" err="1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füllfarbeSetzen</a:t>
              </a:r>
              <a:r>
                <a:rPr lang="de-DE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(</a:t>
              </a:r>
              <a:r>
                <a:rPr lang="de-DE" dirty="0" err="1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farbe</a:t>
              </a:r>
              <a:r>
                <a:rPr lang="de-DE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)</a:t>
              </a:r>
            </a:p>
            <a:p>
              <a:pPr>
                <a:lnSpc>
                  <a:spcPct val="107000"/>
                </a:lnSpc>
                <a:spcAft>
                  <a:spcPts val="100"/>
                </a:spcAft>
                <a:buNone/>
              </a:pPr>
              <a:r>
                <a:rPr lang="de-DE" dirty="0" err="1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radiusSetzen</a:t>
              </a:r>
              <a:r>
                <a:rPr lang="de-DE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(</a:t>
              </a:r>
              <a:r>
                <a:rPr lang="de-DE" dirty="0" err="1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radius</a:t>
              </a:r>
              <a:r>
                <a:rPr lang="de-DE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)</a:t>
              </a:r>
            </a:p>
            <a:p>
              <a:pPr>
                <a:lnSpc>
                  <a:spcPct val="107000"/>
                </a:lnSpc>
                <a:spcAft>
                  <a:spcPts val="100"/>
                </a:spcAft>
                <a:buNone/>
              </a:pPr>
              <a:r>
                <a:rPr lang="de-DE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verschieben(</a:t>
              </a:r>
              <a:r>
                <a:rPr lang="de-DE" dirty="0" err="1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x,y</a:t>
              </a:r>
              <a:r>
                <a:rPr lang="de-DE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)</a:t>
              </a:r>
            </a:p>
            <a:p>
              <a:pPr>
                <a:lnSpc>
                  <a:spcPct val="107000"/>
                </a:lnSpc>
                <a:spcAft>
                  <a:spcPts val="100"/>
                </a:spcAft>
              </a:pPr>
              <a:r>
                <a:rPr lang="de-DE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0807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700E8-59FD-432E-3142-C832D8F87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404CB1C1-493B-339F-7805-24D54E1A3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CFC4FB71-F236-65E3-8617-710341701C9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Zeichne einen Smiley in EOS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238919BB-38F9-FCEF-3BB4-AF5036047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71B99535-0E9B-AD76-04E9-FD95C89A7D6C}"/>
              </a:ext>
            </a:extLst>
          </p:cNvPr>
          <p:cNvSpPr txBox="1"/>
          <p:nvPr/>
        </p:nvSpPr>
        <p:spPr>
          <a:xfrm>
            <a:off x="287601" y="952080"/>
            <a:ext cx="9640382" cy="389048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de-DE" sz="2800" b="1" dirty="0">
                <a:latin typeface="Arial" charset="0"/>
                <a:cs typeface="Times New Roman" pitchFamily="18" charset="0"/>
              </a:rPr>
              <a:t>Zeichne</a:t>
            </a:r>
            <a:r>
              <a:rPr lang="de-DE" sz="2800" dirty="0">
                <a:latin typeface="Arial" charset="0"/>
                <a:cs typeface="Times New Roman" pitchFamily="18" charset="0"/>
              </a:rPr>
              <a:t> einen Smiley in EOS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de-DE" sz="2800" dirty="0">
                <a:latin typeface="Arial" charset="0"/>
                <a:cs typeface="Times New Roman" pitchFamily="18" charset="0"/>
              </a:rPr>
              <a:t>Nutze den Befehl </a:t>
            </a:r>
            <a:r>
              <a:rPr lang="de-DE" sz="2800" b="1" dirty="0" err="1">
                <a:latin typeface="Arial" charset="0"/>
                <a:cs typeface="Times New Roman" pitchFamily="18" charset="0"/>
              </a:rPr>
              <a:t>objektname:KLASSENNAME</a:t>
            </a:r>
            <a:r>
              <a:rPr lang="de-DE" sz="2800" b="1" dirty="0">
                <a:latin typeface="Arial" charset="0"/>
                <a:cs typeface="Times New Roman" pitchFamily="18" charset="0"/>
              </a:rPr>
              <a:t> </a:t>
            </a:r>
            <a:r>
              <a:rPr lang="de-DE" sz="2800" dirty="0">
                <a:latin typeface="Arial" charset="0"/>
                <a:cs typeface="Times New Roman" pitchFamily="18" charset="0"/>
              </a:rPr>
              <a:t>(z.B. k1:KREIS) um ein Objekt zu erstellen.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de-DE" sz="2800" dirty="0">
                <a:latin typeface="Arial" charset="0"/>
                <a:cs typeface="Times New Roman" pitchFamily="18" charset="0"/>
              </a:rPr>
              <a:t>Rufe Methoden in Punktnotation auf, um Objekte zu verändern. </a:t>
            </a:r>
            <a:r>
              <a:rPr lang="de-DE" sz="2800" b="1" dirty="0" err="1">
                <a:latin typeface="Arial" charset="0"/>
                <a:cs typeface="Times New Roman" pitchFamily="18" charset="0"/>
              </a:rPr>
              <a:t>Z.b.</a:t>
            </a:r>
            <a:r>
              <a:rPr lang="de-DE" sz="2800" b="1" dirty="0">
                <a:latin typeface="Arial" charset="0"/>
                <a:cs typeface="Times New Roman" pitchFamily="18" charset="0"/>
              </a:rPr>
              <a:t> k1.verschieben(-5, 0)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de-DE" sz="2800" b="1" dirty="0">
                <a:latin typeface="Arial" charset="0"/>
                <a:cs typeface="Times New Roman" pitchFamily="18" charset="0"/>
              </a:rPr>
              <a:t>Speichere</a:t>
            </a:r>
            <a:r>
              <a:rPr lang="de-DE" sz="2800" dirty="0">
                <a:latin typeface="Arial" charset="0"/>
                <a:cs typeface="Times New Roman" pitchFamily="18" charset="0"/>
              </a:rPr>
              <a:t> deinen Fortschritt am Ende.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48FB77AB-FDF9-1EC8-3DC8-CA9E2B2AFDA3}"/>
              </a:ext>
            </a:extLst>
          </p:cNvPr>
          <p:cNvGrpSpPr/>
          <p:nvPr/>
        </p:nvGrpSpPr>
        <p:grpSpPr>
          <a:xfrm>
            <a:off x="7308850" y="3712464"/>
            <a:ext cx="4057142" cy="2674639"/>
            <a:chOff x="0" y="0"/>
            <a:chExt cx="1179871" cy="1190886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E8C5ED58-3575-9EAA-2D3E-EBFE0DAD6BCE}"/>
                </a:ext>
              </a:extLst>
            </p:cNvPr>
            <p:cNvSpPr/>
            <p:nvPr/>
          </p:nvSpPr>
          <p:spPr>
            <a:xfrm>
              <a:off x="0" y="0"/>
              <a:ext cx="1179871" cy="25367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de-DE" sz="24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KREIS</a:t>
              </a:r>
              <a:endParaRPr lang="de-DE" sz="1100" dirty="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540B680C-AA39-04C7-4104-63573B7B6977}"/>
                </a:ext>
              </a:extLst>
            </p:cNvPr>
            <p:cNvSpPr/>
            <p:nvPr/>
          </p:nvSpPr>
          <p:spPr>
            <a:xfrm>
              <a:off x="0" y="248239"/>
              <a:ext cx="1179871" cy="25367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de-DE" sz="110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7F001F45-1C6C-39CB-F987-7B118FCE01D2}"/>
                </a:ext>
              </a:extLst>
            </p:cNvPr>
            <p:cNvSpPr/>
            <p:nvPr/>
          </p:nvSpPr>
          <p:spPr>
            <a:xfrm>
              <a:off x="0" y="502337"/>
              <a:ext cx="1179871" cy="68854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7000"/>
                </a:lnSpc>
                <a:spcAft>
                  <a:spcPts val="100"/>
                </a:spcAft>
                <a:buNone/>
              </a:pPr>
              <a:r>
                <a:rPr lang="de-DE" dirty="0" err="1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füllfarbeSetzen</a:t>
              </a:r>
              <a:r>
                <a:rPr lang="de-DE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(</a:t>
              </a:r>
              <a:r>
                <a:rPr lang="de-DE" dirty="0" err="1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farbe</a:t>
              </a:r>
              <a:r>
                <a:rPr lang="de-DE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)</a:t>
              </a:r>
            </a:p>
            <a:p>
              <a:pPr>
                <a:lnSpc>
                  <a:spcPct val="107000"/>
                </a:lnSpc>
                <a:spcAft>
                  <a:spcPts val="100"/>
                </a:spcAft>
                <a:buNone/>
              </a:pPr>
              <a:r>
                <a:rPr lang="de-DE" dirty="0" err="1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radiusSetzen</a:t>
              </a:r>
              <a:r>
                <a:rPr lang="de-DE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(</a:t>
              </a:r>
              <a:r>
                <a:rPr lang="de-DE" dirty="0" err="1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radius</a:t>
              </a:r>
              <a:r>
                <a:rPr lang="de-DE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)</a:t>
              </a:r>
            </a:p>
            <a:p>
              <a:pPr>
                <a:lnSpc>
                  <a:spcPct val="107000"/>
                </a:lnSpc>
                <a:spcAft>
                  <a:spcPts val="100"/>
                </a:spcAft>
                <a:buNone/>
              </a:pPr>
              <a:r>
                <a:rPr lang="de-DE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verschieben(</a:t>
              </a:r>
              <a:r>
                <a:rPr lang="de-DE" dirty="0" err="1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x,y</a:t>
              </a:r>
              <a:r>
                <a:rPr lang="de-DE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)</a:t>
              </a:r>
            </a:p>
            <a:p>
              <a:pPr>
                <a:lnSpc>
                  <a:spcPct val="107000"/>
                </a:lnSpc>
                <a:spcAft>
                  <a:spcPts val="100"/>
                </a:spcAft>
              </a:pPr>
              <a:r>
                <a:rPr lang="de-DE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4371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360</Words>
  <Application>Microsoft Office PowerPoint</Application>
  <PresentationFormat>Breitbild</PresentationFormat>
  <Paragraphs>78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6" baseType="lpstr">
      <vt:lpstr>Aptos</vt:lpstr>
      <vt:lpstr>Arial</vt:lpstr>
      <vt:lpstr>Times New Roman</vt:lpstr>
      <vt:lpstr>Standarddesign</vt:lpstr>
      <vt:lpstr>Verschiedene Objekte der Klasse Ring</vt:lpstr>
      <vt:lpstr>Verschiedene Objekte der Klasse Ring</vt:lpstr>
      <vt:lpstr>Verschiedene Objekte der Klasse Ring</vt:lpstr>
      <vt:lpstr>Eine Sonne in einem Zeichenprogramm zeichnen</vt:lpstr>
      <vt:lpstr>Eine Sonne in einem Zeichenprogramm zeichnen</vt:lpstr>
      <vt:lpstr>Objekte mit Methoden verändern</vt:lpstr>
      <vt:lpstr>AB3</vt:lpstr>
      <vt:lpstr>AB3</vt:lpstr>
      <vt:lpstr>AB3 – Aufgabe 3 - Besprechung</vt:lpstr>
      <vt:lpstr>AB3 – Aufgabe 4</vt:lpstr>
      <vt:lpstr>Wir lernen ein neues Programm kennen</vt:lpstr>
      <vt:lpstr>Zeichne einen Smiley in EOS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Franke</dc:creator>
  <cp:lastModifiedBy>Florian Franke</cp:lastModifiedBy>
  <cp:revision>268</cp:revision>
  <cp:lastPrinted>2025-04-09T21:07:19Z</cp:lastPrinted>
  <dcterms:created xsi:type="dcterms:W3CDTF">2024-12-17T13:39:15Z</dcterms:created>
  <dcterms:modified xsi:type="dcterms:W3CDTF">2026-06-14T20:46:26Z</dcterms:modified>
</cp:coreProperties>
</file>